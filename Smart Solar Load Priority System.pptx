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a small, cheap controller that decides which appliances a solar battery keeps running as it empties, so the important ones last much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Everyone in the room has lived through the lights going out. The question is not whether the battery empties, but what is still running when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The same battery, the same last stretch of charge: roughly five times longer for the things that keep people safe. Be clear it is a calculated estimate from the load schedule,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appliance is placed by asking one question: what happens if it is off for an hour? The supervisor's examples: four bulbs in one room is waste, the toilet light only needs to be on when someone uses it, and the fan is essential but not critical. Each group is wired through its own relay, an electric switch the controller can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supervisor works in a hospital and suggested it as a setting. It is the clearest illustration: the same kind of fridge moves group because the consequence changes. Only the appliance list in the program changes; the logic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Supervisor's handwritten note: every battery has a usable portion, 51.5 V at full down to 30.0 V, a span of 21.5 V, split into three tiers by percentage. Voltage sag is like a tap losing pressure when another tap opens: the controller adds the dip back so a fridge starting up doesn't look like the battery emptying.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ladder. At 66 % the decoration, TV and spare bulbs go off and nobody notices yet. At 33 % the fan, room lights and fridge go off. At 10 % even the critical group goes off, and that is to protect the battery from damage, not to save energy. The right-hand column is what is still powered.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relay switched thousands of times a second burns out within minutes, so this was the most serious defect in the first prototype. The demo uses fast timings (0.6 s to switch off, 1.5 s to switch back on). In a real house it waits 3 s and 30 s. Type "slow" to show the real-house timings and explain why the real deployment is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cool-down: after an overload the groups stay off for a while, then come back. If it happens three times in a row the controller treats it as a real fault and stops cycling the relays; someone has to type reset. The buzzer lets you tell what is wrong without looking at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 means state of charge. Typing it tells the controller to act as if the battery were at that level, because hitting an exact percentage with a slider looks unconvincing. The demo runs in the Wokwi simulator; the same program runs on the real board. The simulator has no fan part, so a small motor on screen stands in for it; the bench model uses a real 12 V fan. Optional extras: push the load slider past 26 A for an overload trip, then type "status" for the full settings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Supervisor: "Whatever component you are using, you should be able to get it physically, at a cheap price." Everything here is a common through-hole part or ready-made module; nothing is imported and nothing needs special tools beyond a soldering iron. A commercial battery-management system costs 150,000 naira or more, and would do the job for us, leaving nothing to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review was taken seriously. The wiring mistake matters: the Critical light was tied straight to the power rail, so it could never go out, which hid the most important event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panel does. The first two turn the percentages from estimates into measurements. The toilet-light point answers the supervisor directly: it is about someone using it, not about battery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30 V as empty? It is the range the supervisor specified; it is low for real batteries (lithium protection cuts out near 40 V, lead-acid would be damaged), and settings for both are built in, switchable with one line. Why not switch back on at the same point? The relay would cycle and burn out. What if the fridge motor dips the voltage? It waits and allows for the dip. Why doesn't an overload cut Critical? Overload means too many appliances, not an empty battery. Other settings? Yes, a hospital: only the appliance list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A33A"/>
          </a:solidFill>
          <a:ln/>
        </p:spPr>
      </p:sp>
      <p:sp>
        <p:nvSpPr>
          <p:cNvPr id="3" name="Text 1"/>
          <p:cNvSpPr/>
          <p:nvPr/>
        </p:nvSpPr>
        <p:spPr>
          <a:xfrm>
            <a:off x="812800" y="18694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A33A"/>
                </a:solidFill>
                <a:latin typeface="Public Sans" pitchFamily="34" charset="0"/>
                <a:ea typeface="Public Sans" pitchFamily="34" charset="-122"/>
                <a:cs typeface="Public Sans" pitchFamily="34" charset="-120"/>
              </a:rPr>
              <a:t>FINAL YEAR PROJECT</a:t>
            </a:r>
            <a:endParaRPr lang="en-US" sz="1600" dirty="0"/>
          </a:p>
        </p:txBody>
      </p:sp>
      <p:sp>
        <p:nvSpPr>
          <p:cNvPr id="4" name="Text 2"/>
          <p:cNvSpPr/>
          <p:nvPr/>
        </p:nvSpPr>
        <p:spPr>
          <a:xfrm>
            <a:off x="812800" y="24079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7F5EE"/>
                </a:solidFill>
                <a:latin typeface="Domine" pitchFamily="34" charset="0"/>
                <a:ea typeface="Domine" pitchFamily="34" charset="-122"/>
                <a:cs typeface="Domine" pitchFamily="34" charset="-120"/>
              </a:rPr>
              <a:t>Smart Solar Load</a:t>
            </a:r>
            <a:endParaRPr lang="en-US" sz="6000" dirty="0"/>
          </a:p>
          <a:p>
            <a:pPr algn="l" indent="0" marL="0">
              <a:lnSpc>
                <a:spcPts val="6300"/>
              </a:lnSpc>
              <a:buNone/>
            </a:pPr>
            <a:r>
              <a:rPr lang="en-US" sz="6000" b="1" dirty="0">
                <a:solidFill>
                  <a:srgbClr val="F7F5EE"/>
                </a:solidFill>
                <a:latin typeface="Domine" pitchFamily="34" charset="0"/>
                <a:ea typeface="Domine" pitchFamily="34" charset="-122"/>
                <a:cs typeface="Domine" pitchFamily="34" charset="-120"/>
              </a:rPr>
              <a:t>Priority System</a:t>
            </a:r>
            <a:endParaRPr lang="en-US" sz="6000" dirty="0"/>
          </a:p>
        </p:txBody>
      </p:sp>
      <p:sp>
        <p:nvSpPr>
          <p:cNvPr id="5" name="Text 3"/>
          <p:cNvSpPr/>
          <p:nvPr/>
        </p:nvSpPr>
        <p:spPr>
          <a:xfrm>
            <a:off x="812800" y="4262140"/>
            <a:ext cx="10883392"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E3"/>
                </a:solidFill>
                <a:latin typeface="Public Sans" pitchFamily="34" charset="0"/>
                <a:ea typeface="Public Sans" pitchFamily="34" charset="-122"/>
                <a:cs typeface="Public Sans" pitchFamily="34" charset="-120"/>
              </a:rPr>
              <a:t>Keeping the important things on</a:t>
            </a:r>
            <a:endParaRPr lang="en-US" sz="2200" dirty="0"/>
          </a:p>
          <a:p>
            <a:pPr algn="l" indent="0" marL="0">
              <a:lnSpc>
                <a:spcPts val="2860"/>
              </a:lnSpc>
              <a:buNone/>
            </a:pPr>
            <a:r>
              <a:rPr lang="en-US" sz="2200" dirty="0">
                <a:solidFill>
                  <a:srgbClr val="C9D2E3"/>
                </a:solidFill>
                <a:latin typeface="Public Sans" pitchFamily="34" charset="0"/>
                <a:ea typeface="Public Sans" pitchFamily="34" charset="-122"/>
                <a:cs typeface="Public Sans" pitchFamily="34" charset="-120"/>
              </a:rPr>
              <a:t>when the sun goes down</a:t>
            </a:r>
            <a:endParaRPr lang="en-US" sz="2200" dirty="0"/>
          </a:p>
        </p:txBody>
      </p:sp>
      <p:sp>
        <p:nvSpPr>
          <p:cNvPr id="6" name="Text 4"/>
          <p:cNvSpPr/>
          <p:nvPr/>
        </p:nvSpPr>
        <p:spPr>
          <a:xfrm>
            <a:off x="812800" y="59639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Public Sans" pitchFamily="34" charset="0"/>
                <a:ea typeface="Public Sans" pitchFamily="34" charset="-122"/>
                <a:cs typeface="Public Sans" pitchFamily="34" charset="-120"/>
              </a:rPr>
              <a:t>[Your name] · Supervisor: [Supervisor's name] · [Department,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206508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9A5A00"/>
                </a:solidFill>
                <a:latin typeface="Public Sans" pitchFamily="34" charset="0"/>
                <a:ea typeface="Public Sans" pitchFamily="34" charset="-122"/>
                <a:cs typeface="Public Sans" pitchFamily="34" charset="-120"/>
              </a:rPr>
              <a:t>THE PROBLEM</a:t>
            </a:r>
            <a:endParaRPr lang="en-US" sz="1600" dirty="0"/>
          </a:p>
        </p:txBody>
      </p:sp>
      <p:sp>
        <p:nvSpPr>
          <p:cNvPr id="3" name="Text 1"/>
          <p:cNvSpPr/>
          <p:nvPr/>
        </p:nvSpPr>
        <p:spPr>
          <a:xfrm>
            <a:off x="812800" y="265435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Domine" pitchFamily="34" charset="0"/>
                <a:ea typeface="Domine" pitchFamily="34" charset="-122"/>
                <a:cs typeface="Domine" pitchFamily="34" charset="-120"/>
              </a:rPr>
              <a:t>When a solar battery runs flat, the whole house goes dark at once, security light included.</a:t>
            </a:r>
            <a:endParaRPr lang="en-US" sz="3600" dirty="0"/>
          </a:p>
        </p:txBody>
      </p:sp>
      <p:sp>
        <p:nvSpPr>
          <p:cNvPr id="4" name="Text 2"/>
          <p:cNvSpPr/>
          <p:nvPr/>
        </p:nvSpPr>
        <p:spPr>
          <a:xfrm>
            <a:off x="812800" y="4010670"/>
            <a:ext cx="10883392"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F4A5A"/>
                </a:solidFill>
                <a:latin typeface="Public Sans" pitchFamily="34" charset="0"/>
                <a:ea typeface="Public Sans" pitchFamily="34" charset="-122"/>
                <a:cs typeface="Public Sans" pitchFamily="34" charset="-120"/>
              </a:rPr>
              <a:t>The battery charges by day and drains at night. If everything stays on, nothing is saved for the things that matter.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A33A"/>
        </a:solidFill>
      </p:bgPr>
    </p:bg>
    <p:spTree>
      <p:nvGrpSpPr>
        <p:cNvPr id="1" name=""/>
        <p:cNvGrpSpPr/>
        <p:nvPr/>
      </p:nvGrpSpPr>
      <p:grpSpPr>
        <a:xfrm>
          <a:off x="0" y="0"/>
          <a:ext cx="0" cy="0"/>
          <a:chOff x="0" y="0"/>
          <a:chExt cx="0" cy="0"/>
        </a:xfrm>
      </p:grpSpPr>
      <p:sp>
        <p:nvSpPr>
          <p:cNvPr id="2" name="Text 0"/>
          <p:cNvSpPr/>
          <p:nvPr/>
        </p:nvSpPr>
        <p:spPr>
          <a:xfrm>
            <a:off x="812800" y="155198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14213D"/>
                </a:solidFill>
                <a:latin typeface="Domine" pitchFamily="34" charset="0"/>
                <a:ea typeface="Domine" pitchFamily="34" charset="-122"/>
                <a:cs typeface="Domine" pitchFamily="34" charset="-120"/>
              </a:rPr>
              <a:t>The idea: switch off the least important things first</a:t>
            </a:r>
            <a:endParaRPr lang="en-US" sz="3600" dirty="0"/>
          </a:p>
        </p:txBody>
      </p:sp>
      <p:sp>
        <p:nvSpPr>
          <p:cNvPr id="3" name="Shape 1"/>
          <p:cNvSpPr/>
          <p:nvPr/>
        </p:nvSpPr>
        <p:spPr>
          <a:xfrm>
            <a:off x="812800" y="2959100"/>
            <a:ext cx="5130800" cy="2143720"/>
          </a:xfrm>
          <a:prstGeom prst="roundRect">
            <a:avLst>
              <a:gd name="adj" fmla="val 7109"/>
            </a:avLst>
          </a:prstGeom>
          <a:solidFill>
            <a:srgbClr val="14213D"/>
          </a:solidFill>
          <a:ln/>
        </p:spPr>
      </p:sp>
      <p:sp>
        <p:nvSpPr>
          <p:cNvPr id="4" name="Text 2"/>
          <p:cNvSpPr/>
          <p:nvPr/>
        </p:nvSpPr>
        <p:spPr>
          <a:xfrm>
            <a:off x="1168400" y="3314700"/>
            <a:ext cx="45521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33A"/>
                </a:solidFill>
                <a:latin typeface="Domine" pitchFamily="34" charset="0"/>
                <a:ea typeface="Domine" pitchFamily="34" charset="-122"/>
                <a:cs typeface="Domine" pitchFamily="34" charset="-120"/>
              </a:rPr>
              <a:t>18 hours</a:t>
            </a:r>
            <a:endParaRPr lang="en-US" sz="6000" dirty="0"/>
          </a:p>
        </p:txBody>
      </p:sp>
      <p:sp>
        <p:nvSpPr>
          <p:cNvPr id="5" name="Text 3"/>
          <p:cNvSpPr/>
          <p:nvPr/>
        </p:nvSpPr>
        <p:spPr>
          <a:xfrm>
            <a:off x="1168400" y="4178300"/>
            <a:ext cx="455218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of security light and phone charging from the last stretch of charge, with this system</a:t>
            </a:r>
            <a:endParaRPr lang="en-US" sz="1600" dirty="0"/>
          </a:p>
        </p:txBody>
      </p:sp>
      <p:sp>
        <p:nvSpPr>
          <p:cNvPr id="6" name="Shape 4"/>
          <p:cNvSpPr/>
          <p:nvPr/>
        </p:nvSpPr>
        <p:spPr>
          <a:xfrm>
            <a:off x="6248400" y="2959100"/>
            <a:ext cx="5130800" cy="2143720"/>
          </a:xfrm>
          <a:prstGeom prst="roundRect">
            <a:avLst>
              <a:gd name="adj" fmla="val 7109"/>
            </a:avLst>
          </a:prstGeom>
          <a:solidFill>
            <a:srgbClr val="F7F5EE"/>
          </a:solidFill>
          <a:ln/>
        </p:spPr>
      </p:sp>
      <p:sp>
        <p:nvSpPr>
          <p:cNvPr id="7" name="Text 5"/>
          <p:cNvSpPr/>
          <p:nvPr/>
        </p:nvSpPr>
        <p:spPr>
          <a:xfrm>
            <a:off x="6604000" y="3314700"/>
            <a:ext cx="45521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3F4A5A"/>
                </a:solidFill>
                <a:latin typeface="Domine" pitchFamily="34" charset="0"/>
                <a:ea typeface="Domine" pitchFamily="34" charset="-122"/>
                <a:cs typeface="Domine" pitchFamily="34" charset="-120"/>
              </a:rPr>
              <a:t>3.5 hours</a:t>
            </a:r>
            <a:endParaRPr lang="en-US" sz="6000" dirty="0"/>
          </a:p>
        </p:txBody>
      </p:sp>
      <p:sp>
        <p:nvSpPr>
          <p:cNvPr id="8" name="Text 6"/>
          <p:cNvSpPr/>
          <p:nvPr/>
        </p:nvSpPr>
        <p:spPr>
          <a:xfrm>
            <a:off x="6604000" y="4178300"/>
            <a:ext cx="455218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from the same charge if every appliance is left on</a:t>
            </a:r>
            <a:endParaRPr lang="en-US" sz="16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Estimated from the load schedule for a 200 Ah, 48 V battery; not yet measured.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Every appliance goes in one of three groups</a:t>
            </a:r>
            <a:endParaRPr lang="en-US" sz="3600" dirty="0"/>
          </a:p>
        </p:txBody>
      </p:sp>
      <p:sp>
        <p:nvSpPr>
          <p:cNvPr id="3" name="Shape 1"/>
          <p:cNvSpPr/>
          <p:nvPr/>
        </p:nvSpPr>
        <p:spPr>
          <a:xfrm>
            <a:off x="812800" y="1671290"/>
            <a:ext cx="3386634" cy="4373910"/>
          </a:xfrm>
          <a:prstGeom prst="roundRect">
            <a:avLst>
              <a:gd name="adj" fmla="val 3750"/>
            </a:avLst>
          </a:prstGeom>
          <a:solidFill>
            <a:srgbClr val="FFFDF8"/>
          </a:solidFill>
          <a:ln/>
          <a:effectLst>
            <a:outerShdw sx="100000" sy="100000" kx="0" ky="0" algn="bl" rotWithShape="0" blurRad="76200" dist="12700" dir="5400000">
              <a:srgbClr val="14213D">
                <a:alpha val="8000"/>
              </a:srgbClr>
            </a:outerShdw>
          </a:effectLst>
        </p:spPr>
      </p:sp>
      <p:sp>
        <p:nvSpPr>
          <p:cNvPr id="4" name="Shape 2"/>
          <p:cNvSpPr/>
          <p:nvPr/>
        </p:nvSpPr>
        <p:spPr>
          <a:xfrm>
            <a:off x="812800" y="1671290"/>
            <a:ext cx="3386634" cy="4373910"/>
          </a:xfrm>
          <a:custGeom>
            <a:avLst/>
            <a:gdLst/>
            <a:ahLst/>
            <a:cxnLst/>
            <a:rect l="l" t="t" r="r" b="b"/>
            <a:pathLst>
              <a:path w="3386634" h="4373910">
                <a:moveTo>
                  <a:pt x="0" y="127000"/>
                </a:moveTo>
                <a:lnTo>
                  <a:pt x="0" y="127000"/>
                </a:lnTo>
                <a:arcTo hR="127000" wR="127000" stAng="10800000" swAng="5400000"/>
                <a:lnTo>
                  <a:pt x="3259634" y="0"/>
                </a:lnTo>
                <a:arcTo hR="127000" wR="127000" stAng="16200000" swAng="5400000"/>
                <a:lnTo>
                  <a:pt x="3386634" y="127000"/>
                </a:lnTo>
                <a:arcTo hR="25400" wR="127000" stAng="0" swAng="-5400000"/>
                <a:lnTo>
                  <a:pt x="127000" y="101600"/>
                </a:lnTo>
                <a:arcTo hR="25400" wR="127000" stAng="16200000" swAng="-5400000"/>
                <a:close/>
              </a:path>
            </a:pathLst>
          </a:custGeom>
          <a:solidFill>
            <a:srgbClr val="2E7D5B"/>
          </a:solidFill>
          <a:ln/>
        </p:spPr>
      </p:sp>
      <p:sp>
        <p:nvSpPr>
          <p:cNvPr id="5" name="Text 3"/>
          <p:cNvSpPr/>
          <p:nvPr/>
        </p:nvSpPr>
        <p:spPr>
          <a:xfrm>
            <a:off x="1117600" y="2077690"/>
            <a:ext cx="286034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Public Sans" pitchFamily="34" charset="0"/>
                <a:ea typeface="Public Sans" pitchFamily="34" charset="-122"/>
                <a:cs typeface="Public Sans" pitchFamily="34" charset="-120"/>
              </a:rPr>
              <a:t>Critical</a:t>
            </a:r>
            <a:endParaRPr lang="en-US" sz="2200" dirty="0"/>
          </a:p>
        </p:txBody>
      </p:sp>
      <p:sp>
        <p:nvSpPr>
          <p:cNvPr id="6" name="Text 4"/>
          <p:cNvSpPr/>
          <p:nvPr/>
        </p:nvSpPr>
        <p:spPr>
          <a:xfrm>
            <a:off x="1117600" y="2539950"/>
            <a:ext cx="2860345" cy="573980"/>
          </a:xfrm>
          <a:prstGeom prst="rect">
            <a:avLst/>
          </a:prstGeom>
          <a:noFill/>
          <a:ln/>
        </p:spPr>
        <p:txBody>
          <a:bodyPr wrap="square" lIns="0" tIns="0" rIns="0" bIns="0" rtlCol="0" anchor="t">
            <a:normAutofit/>
          </a:bodyPr>
          <a:lstStyle/>
          <a:p>
            <a:pPr algn="l" indent="0" marL="0">
              <a:lnSpc>
                <a:spcPts val="2160"/>
              </a:lnSpc>
              <a:buNone/>
            </a:pPr>
            <a:r>
              <a:rPr lang="en-US" sz="1600" i="1" dirty="0">
                <a:solidFill>
                  <a:srgbClr val="3F4A5A"/>
                </a:solidFill>
                <a:latin typeface="Public Sans" pitchFamily="34" charset="0"/>
                <a:ea typeface="Public Sans" pitchFamily="34" charset="-122"/>
                <a:cs typeface="Public Sans" pitchFamily="34" charset="-120"/>
              </a:rPr>
              <a:t>Would someone get hurt, or something spoil?</a:t>
            </a:r>
            <a:endParaRPr lang="en-US" sz="1600" dirty="0"/>
          </a:p>
        </p:txBody>
      </p:sp>
      <p:sp>
        <p:nvSpPr>
          <p:cNvPr id="7" name="Text 5"/>
          <p:cNvSpPr/>
          <p:nvPr/>
        </p:nvSpPr>
        <p:spPr>
          <a:xfrm>
            <a:off x="1117600" y="3215531"/>
            <a:ext cx="2860345"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13D"/>
                </a:solidFill>
                <a:latin typeface="Public Sans" pitchFamily="34" charset="0"/>
                <a:ea typeface="Public Sans" pitchFamily="34" charset="-122"/>
                <a:cs typeface="Public Sans" pitchFamily="34" charset="-120"/>
              </a:rPr>
              <a:t>Security light, corridor light, phone and radio charging</a:t>
            </a:r>
            <a:endParaRPr lang="en-US" sz="1600" dirty="0"/>
          </a:p>
        </p:txBody>
      </p:sp>
      <p:sp>
        <p:nvSpPr>
          <p:cNvPr id="8" name="Text 6"/>
          <p:cNvSpPr/>
          <p:nvPr/>
        </p:nvSpPr>
        <p:spPr>
          <a:xfrm>
            <a:off x="1117600" y="5527080"/>
            <a:ext cx="28603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A"/>
                </a:solidFill>
                <a:latin typeface="Public Sans" pitchFamily="34" charset="0"/>
                <a:ea typeface="Public Sans" pitchFamily="34" charset="-122"/>
                <a:cs typeface="Public Sans" pitchFamily="34" charset="-120"/>
              </a:rPr>
              <a:t>Green light in the demo</a:t>
            </a:r>
            <a:endParaRPr lang="en-US" sz="1200" dirty="0"/>
          </a:p>
        </p:txBody>
      </p:sp>
      <p:sp>
        <p:nvSpPr>
          <p:cNvPr id="9" name="Shape 7"/>
          <p:cNvSpPr/>
          <p:nvPr/>
        </p:nvSpPr>
        <p:spPr>
          <a:xfrm>
            <a:off x="4402634" y="1671290"/>
            <a:ext cx="3386683" cy="4373910"/>
          </a:xfrm>
          <a:prstGeom prst="roundRect">
            <a:avLst>
              <a:gd name="adj" fmla="val 3750"/>
            </a:avLst>
          </a:prstGeom>
          <a:solidFill>
            <a:srgbClr val="FFFDF8"/>
          </a:solidFill>
          <a:ln/>
          <a:effectLst>
            <a:outerShdw sx="100000" sy="100000" kx="0" ky="0" algn="bl" rotWithShape="0" blurRad="76200" dist="12700" dir="5400000">
              <a:srgbClr val="14213D">
                <a:alpha val="8000"/>
              </a:srgbClr>
            </a:outerShdw>
          </a:effectLst>
        </p:spPr>
      </p:sp>
      <p:sp>
        <p:nvSpPr>
          <p:cNvPr id="10" name="Shape 8"/>
          <p:cNvSpPr/>
          <p:nvPr/>
        </p:nvSpPr>
        <p:spPr>
          <a:xfrm>
            <a:off x="4402634" y="1671290"/>
            <a:ext cx="3386683" cy="4373910"/>
          </a:xfrm>
          <a:custGeom>
            <a:avLst/>
            <a:gdLst/>
            <a:ahLst/>
            <a:cxnLst/>
            <a:rect l="l" t="t" r="r" b="b"/>
            <a:pathLst>
              <a:path w="3386683" h="4373910">
                <a:moveTo>
                  <a:pt x="0" y="127000"/>
                </a:moveTo>
                <a:lnTo>
                  <a:pt x="0" y="127000"/>
                </a:lnTo>
                <a:arcTo hR="127000" wR="127000" stAng="10800000" swAng="5400000"/>
                <a:lnTo>
                  <a:pt x="3259683" y="0"/>
                </a:lnTo>
                <a:arcTo hR="127000" wR="127000" stAng="16200000" swAng="5400000"/>
                <a:lnTo>
                  <a:pt x="3386683" y="127000"/>
                </a:lnTo>
                <a:arcTo hR="25400" wR="127000" stAng="0" swAng="-5400000"/>
                <a:lnTo>
                  <a:pt x="127000" y="101600"/>
                </a:lnTo>
                <a:arcTo hR="25400" wR="127000" stAng="16200000" swAng="-5400000"/>
                <a:close/>
              </a:path>
            </a:pathLst>
          </a:custGeom>
          <a:solidFill>
            <a:srgbClr val="E0A526"/>
          </a:solidFill>
          <a:ln/>
        </p:spPr>
      </p:sp>
      <p:sp>
        <p:nvSpPr>
          <p:cNvPr id="11" name="Text 9"/>
          <p:cNvSpPr/>
          <p:nvPr/>
        </p:nvSpPr>
        <p:spPr>
          <a:xfrm>
            <a:off x="4707434" y="2077690"/>
            <a:ext cx="28603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Public Sans" pitchFamily="34" charset="0"/>
                <a:ea typeface="Public Sans" pitchFamily="34" charset="-122"/>
                <a:cs typeface="Public Sans" pitchFamily="34" charset="-120"/>
              </a:rPr>
              <a:t>Essential</a:t>
            </a:r>
            <a:endParaRPr lang="en-US" sz="2200" dirty="0"/>
          </a:p>
        </p:txBody>
      </p:sp>
      <p:sp>
        <p:nvSpPr>
          <p:cNvPr id="12" name="Text 10"/>
          <p:cNvSpPr/>
          <p:nvPr/>
        </p:nvSpPr>
        <p:spPr>
          <a:xfrm>
            <a:off x="4707434" y="2539950"/>
            <a:ext cx="2860396" cy="573980"/>
          </a:xfrm>
          <a:prstGeom prst="rect">
            <a:avLst/>
          </a:prstGeom>
          <a:noFill/>
          <a:ln/>
        </p:spPr>
        <p:txBody>
          <a:bodyPr wrap="square" lIns="0" tIns="0" rIns="0" bIns="0" rtlCol="0" anchor="t">
            <a:normAutofit/>
          </a:bodyPr>
          <a:lstStyle/>
          <a:p>
            <a:pPr algn="l" indent="0" marL="0">
              <a:lnSpc>
                <a:spcPts val="2160"/>
              </a:lnSpc>
              <a:buNone/>
            </a:pPr>
            <a:r>
              <a:rPr lang="en-US" sz="1600" i="1" dirty="0">
                <a:solidFill>
                  <a:srgbClr val="3F4A5A"/>
                </a:solidFill>
                <a:latin typeface="Public Sans" pitchFamily="34" charset="0"/>
                <a:ea typeface="Public Sans" pitchFamily="34" charset="-122"/>
                <a:cs typeface="Public Sans" pitchFamily="34" charset="-120"/>
              </a:rPr>
              <a:t>Harder to live without, but nobody is harmed?</a:t>
            </a:r>
            <a:endParaRPr lang="en-US" sz="1600" dirty="0"/>
          </a:p>
        </p:txBody>
      </p:sp>
      <p:sp>
        <p:nvSpPr>
          <p:cNvPr id="13" name="Text 11"/>
          <p:cNvSpPr/>
          <p:nvPr/>
        </p:nvSpPr>
        <p:spPr>
          <a:xfrm>
            <a:off x="4707434" y="3215531"/>
            <a:ext cx="286039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13D"/>
                </a:solidFill>
                <a:latin typeface="Public Sans" pitchFamily="34" charset="0"/>
                <a:ea typeface="Public Sans" pitchFamily="34" charset="-122"/>
                <a:cs typeface="Public Sans" pitchFamily="34" charset="-120"/>
              </a:rPr>
              <a:t>Ceiling fan, room lighting, refrigerator</a:t>
            </a:r>
            <a:endParaRPr lang="en-US" sz="1600" dirty="0"/>
          </a:p>
        </p:txBody>
      </p:sp>
      <p:sp>
        <p:nvSpPr>
          <p:cNvPr id="14" name="Text 12"/>
          <p:cNvSpPr/>
          <p:nvPr/>
        </p:nvSpPr>
        <p:spPr>
          <a:xfrm>
            <a:off x="4707434" y="5527080"/>
            <a:ext cx="2860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A"/>
                </a:solidFill>
                <a:latin typeface="Public Sans" pitchFamily="34" charset="0"/>
                <a:ea typeface="Public Sans" pitchFamily="34" charset="-122"/>
                <a:cs typeface="Public Sans" pitchFamily="34" charset="-120"/>
              </a:rPr>
              <a:t>Yellow light in the demo</a:t>
            </a:r>
            <a:endParaRPr lang="en-US" sz="1200" dirty="0"/>
          </a:p>
        </p:txBody>
      </p:sp>
      <p:sp>
        <p:nvSpPr>
          <p:cNvPr id="15" name="Shape 13"/>
          <p:cNvSpPr/>
          <p:nvPr/>
        </p:nvSpPr>
        <p:spPr>
          <a:xfrm>
            <a:off x="7992517" y="1671290"/>
            <a:ext cx="3386683" cy="4373910"/>
          </a:xfrm>
          <a:prstGeom prst="roundRect">
            <a:avLst>
              <a:gd name="adj" fmla="val 3750"/>
            </a:avLst>
          </a:prstGeom>
          <a:solidFill>
            <a:srgbClr val="FFFDF8"/>
          </a:solidFill>
          <a:ln/>
          <a:effectLst>
            <a:outerShdw sx="100000" sy="100000" kx="0" ky="0" algn="bl" rotWithShape="0" blurRad="76200" dist="12700" dir="5400000">
              <a:srgbClr val="14213D">
                <a:alpha val="8000"/>
              </a:srgbClr>
            </a:outerShdw>
          </a:effectLst>
        </p:spPr>
      </p:sp>
      <p:sp>
        <p:nvSpPr>
          <p:cNvPr id="16" name="Shape 14"/>
          <p:cNvSpPr/>
          <p:nvPr/>
        </p:nvSpPr>
        <p:spPr>
          <a:xfrm>
            <a:off x="7992517" y="1671290"/>
            <a:ext cx="3386683" cy="4373910"/>
          </a:xfrm>
          <a:custGeom>
            <a:avLst/>
            <a:gdLst/>
            <a:ahLst/>
            <a:cxnLst/>
            <a:rect l="l" t="t" r="r" b="b"/>
            <a:pathLst>
              <a:path w="3386683" h="4373910">
                <a:moveTo>
                  <a:pt x="0" y="127000"/>
                </a:moveTo>
                <a:lnTo>
                  <a:pt x="0" y="127000"/>
                </a:lnTo>
                <a:arcTo hR="127000" wR="127000" stAng="10800000" swAng="5400000"/>
                <a:lnTo>
                  <a:pt x="3259683" y="0"/>
                </a:lnTo>
                <a:arcTo hR="127000" wR="127000" stAng="16200000" swAng="5400000"/>
                <a:lnTo>
                  <a:pt x="3386683" y="127000"/>
                </a:lnTo>
                <a:arcTo hR="25400" wR="127000" stAng="0" swAng="-5400000"/>
                <a:lnTo>
                  <a:pt x="127000" y="101600"/>
                </a:lnTo>
                <a:arcTo hR="25400" wR="127000" stAng="16200000" swAng="-5400000"/>
                <a:close/>
              </a:path>
            </a:pathLst>
          </a:custGeom>
          <a:solidFill>
            <a:srgbClr val="C8553D"/>
          </a:solidFill>
          <a:ln/>
        </p:spPr>
      </p:sp>
      <p:sp>
        <p:nvSpPr>
          <p:cNvPr id="17" name="Text 15"/>
          <p:cNvSpPr/>
          <p:nvPr/>
        </p:nvSpPr>
        <p:spPr>
          <a:xfrm>
            <a:off x="8297317" y="2077690"/>
            <a:ext cx="28603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Public Sans" pitchFamily="34" charset="0"/>
                <a:ea typeface="Public Sans" pitchFamily="34" charset="-122"/>
                <a:cs typeface="Public Sans" pitchFamily="34" charset="-120"/>
              </a:rPr>
              <a:t>Non-essential</a:t>
            </a:r>
            <a:endParaRPr lang="en-US" sz="2200" dirty="0"/>
          </a:p>
        </p:txBody>
      </p:sp>
      <p:sp>
        <p:nvSpPr>
          <p:cNvPr id="18" name="Text 16"/>
          <p:cNvSpPr/>
          <p:nvPr/>
        </p:nvSpPr>
        <p:spPr>
          <a:xfrm>
            <a:off x="8297317" y="2539950"/>
            <a:ext cx="2860396" cy="573980"/>
          </a:xfrm>
          <a:prstGeom prst="rect">
            <a:avLst/>
          </a:prstGeom>
          <a:noFill/>
          <a:ln/>
        </p:spPr>
        <p:txBody>
          <a:bodyPr wrap="square" lIns="0" tIns="0" rIns="0" bIns="0" rtlCol="0" anchor="t">
            <a:normAutofit/>
          </a:bodyPr>
          <a:lstStyle/>
          <a:p>
            <a:pPr algn="l" indent="0" marL="0">
              <a:lnSpc>
                <a:spcPts val="2160"/>
              </a:lnSpc>
              <a:buNone/>
            </a:pPr>
            <a:r>
              <a:rPr lang="en-US" sz="1600" i="1" dirty="0">
                <a:solidFill>
                  <a:srgbClr val="3F4A5A"/>
                </a:solidFill>
                <a:latin typeface="Public Sans" pitchFamily="34" charset="0"/>
                <a:ea typeface="Public Sans" pitchFamily="34" charset="-122"/>
                <a:cs typeface="Public Sans" pitchFamily="34" charset="-120"/>
              </a:rPr>
              <a:t>Comfort, entertainment or decoration?</a:t>
            </a:r>
            <a:endParaRPr lang="en-US" sz="1600" dirty="0"/>
          </a:p>
        </p:txBody>
      </p:sp>
      <p:sp>
        <p:nvSpPr>
          <p:cNvPr id="19" name="Text 17"/>
          <p:cNvSpPr/>
          <p:nvPr/>
        </p:nvSpPr>
        <p:spPr>
          <a:xfrm>
            <a:off x="8297317" y="3215531"/>
            <a:ext cx="286039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13D"/>
                </a:solidFill>
                <a:latin typeface="Public Sans" pitchFamily="34" charset="0"/>
                <a:ea typeface="Public Sans" pitchFamily="34" charset="-122"/>
                <a:cs typeface="Public Sans" pitchFamily="34" charset="-120"/>
              </a:rPr>
              <a:t>Decorative lights, TV, toilet light, extra bulbs in a lit room</a:t>
            </a:r>
            <a:endParaRPr lang="en-US" sz="1600" dirty="0"/>
          </a:p>
        </p:txBody>
      </p:sp>
      <p:sp>
        <p:nvSpPr>
          <p:cNvPr id="20" name="Text 18"/>
          <p:cNvSpPr/>
          <p:nvPr/>
        </p:nvSpPr>
        <p:spPr>
          <a:xfrm>
            <a:off x="8297317" y="5527080"/>
            <a:ext cx="2860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A"/>
                </a:solidFill>
                <a:latin typeface="Public Sans" pitchFamily="34" charset="0"/>
                <a:ea typeface="Public Sans" pitchFamily="34" charset="-122"/>
                <a:cs typeface="Public Sans" pitchFamily="34" charset="-120"/>
              </a:rPr>
              <a:t>Red light in the demo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3391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7F5EE"/>
                </a:solidFill>
                <a:latin typeface="Domine" pitchFamily="34" charset="0"/>
                <a:ea typeface="Domine" pitchFamily="34" charset="-122"/>
                <a:cs typeface="Domine" pitchFamily="34" charset="-120"/>
              </a:rPr>
              <a:t>Groups are decided by what happens if it goes off, not by how much power it uses</a:t>
            </a:r>
            <a:endParaRPr lang="en-US" sz="3600" dirty="0"/>
          </a:p>
        </p:txBody>
      </p:sp>
      <p:sp>
        <p:nvSpPr>
          <p:cNvPr id="3" name="Shape 1"/>
          <p:cNvSpPr/>
          <p:nvPr/>
        </p:nvSpPr>
        <p:spPr>
          <a:xfrm>
            <a:off x="819150" y="3348980"/>
            <a:ext cx="4635500" cy="1668711"/>
          </a:xfrm>
          <a:prstGeom prst="roundRect">
            <a:avLst>
              <a:gd name="adj" fmla="val 7230"/>
            </a:avLst>
          </a:prstGeom>
          <a:noFill/>
          <a:ln w="12700">
            <a:solidFill>
              <a:srgbClr val="E0A526"/>
            </a:solidFill>
            <a:prstDash val="solid"/>
          </a:ln>
        </p:spPr>
      </p:sp>
      <p:sp>
        <p:nvSpPr>
          <p:cNvPr id="4" name="Text 2"/>
          <p:cNvSpPr/>
          <p:nvPr/>
        </p:nvSpPr>
        <p:spPr>
          <a:xfrm>
            <a:off x="1130300" y="3660130"/>
            <a:ext cx="41335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Public Sans" pitchFamily="34" charset="0"/>
                <a:ea typeface="Public Sans" pitchFamily="34" charset="-122"/>
                <a:cs typeface="Public Sans" pitchFamily="34" charset="-120"/>
              </a:rPr>
              <a:t>At home</a:t>
            </a:r>
            <a:endParaRPr lang="en-US" sz="1600" dirty="0"/>
          </a:p>
        </p:txBody>
      </p:sp>
      <p:sp>
        <p:nvSpPr>
          <p:cNvPr id="5" name="Text 3"/>
          <p:cNvSpPr/>
          <p:nvPr/>
        </p:nvSpPr>
        <p:spPr>
          <a:xfrm>
            <a:off x="1130300" y="4020790"/>
            <a:ext cx="41335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E"/>
                </a:solidFill>
                <a:latin typeface="Public Sans" pitchFamily="34" charset="0"/>
                <a:ea typeface="Public Sans" pitchFamily="34" charset="-122"/>
                <a:cs typeface="Public Sans" pitchFamily="34" charset="-120"/>
              </a:rPr>
              <a:t>Kitchen fridge = Essential</a:t>
            </a:r>
            <a:endParaRPr lang="en-US" sz="2200" dirty="0"/>
          </a:p>
        </p:txBody>
      </p:sp>
      <p:sp>
        <p:nvSpPr>
          <p:cNvPr id="6" name="Text 4"/>
          <p:cNvSpPr/>
          <p:nvPr/>
        </p:nvSpPr>
        <p:spPr>
          <a:xfrm>
            <a:off x="1130300" y="4432250"/>
            <a:ext cx="413359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9D2E3"/>
                </a:solidFill>
                <a:latin typeface="Public Sans" pitchFamily="34" charset="0"/>
                <a:ea typeface="Public Sans" pitchFamily="34" charset="-122"/>
                <a:cs typeface="Public Sans" pitchFamily="34" charset="-120"/>
              </a:rPr>
              <a:t>Food keeps for a few hours</a:t>
            </a:r>
            <a:endParaRPr lang="en-US" sz="1600" dirty="0"/>
          </a:p>
        </p:txBody>
      </p:sp>
      <p:pic>
        <p:nvPicPr>
          <p:cNvPr id="7" name="Image 0" descr="arrow-right">    </p:cNvPr>
          <p:cNvPicPr>
            <a:picLocks noChangeAspect="1"/>
          </p:cNvPicPr>
          <p:nvPr/>
        </p:nvPicPr>
        <p:blipFill>
          <a:blip r:embed="rId1"/>
          <a:srcRect l="0" r="0" t="0" b="0"/>
          <a:stretch/>
        </p:blipFill>
        <p:spPr>
          <a:xfrm>
            <a:off x="5715000" y="3992811"/>
            <a:ext cx="762000" cy="381000"/>
          </a:xfrm>
          <a:prstGeom prst="rect">
            <a:avLst/>
          </a:prstGeom>
        </p:spPr>
      </p:pic>
      <p:sp>
        <p:nvSpPr>
          <p:cNvPr id="8" name="Shape 5"/>
          <p:cNvSpPr/>
          <p:nvPr/>
        </p:nvSpPr>
        <p:spPr>
          <a:xfrm>
            <a:off x="6737350" y="3348980"/>
            <a:ext cx="4635500" cy="1668711"/>
          </a:xfrm>
          <a:prstGeom prst="roundRect">
            <a:avLst>
              <a:gd name="adj" fmla="val 7230"/>
            </a:avLst>
          </a:prstGeom>
          <a:solidFill>
            <a:srgbClr val="1C2C4F"/>
          </a:solidFill>
          <a:ln w="12700">
            <a:solidFill>
              <a:srgbClr val="2E7D5B"/>
            </a:solidFill>
            <a:prstDash val="solid"/>
          </a:ln>
        </p:spPr>
      </p:sp>
      <p:sp>
        <p:nvSpPr>
          <p:cNvPr id="9" name="Text 6"/>
          <p:cNvSpPr/>
          <p:nvPr/>
        </p:nvSpPr>
        <p:spPr>
          <a:xfrm>
            <a:off x="7048500" y="3660130"/>
            <a:ext cx="41335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Public Sans" pitchFamily="34" charset="0"/>
                <a:ea typeface="Public Sans" pitchFamily="34" charset="-122"/>
                <a:cs typeface="Public Sans" pitchFamily="34" charset="-120"/>
              </a:rPr>
              <a:t>In a hospital</a:t>
            </a:r>
            <a:endParaRPr lang="en-US" sz="1600" dirty="0"/>
          </a:p>
        </p:txBody>
      </p:sp>
      <p:sp>
        <p:nvSpPr>
          <p:cNvPr id="10" name="Text 7"/>
          <p:cNvSpPr/>
          <p:nvPr/>
        </p:nvSpPr>
        <p:spPr>
          <a:xfrm>
            <a:off x="7048500" y="4020790"/>
            <a:ext cx="413359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E"/>
                </a:solidFill>
                <a:latin typeface="Public Sans" pitchFamily="34" charset="0"/>
                <a:ea typeface="Public Sans" pitchFamily="34" charset="-122"/>
                <a:cs typeface="Public Sans" pitchFamily="34" charset="-120"/>
              </a:rPr>
              <a:t>Vaccine fridge = Critical</a:t>
            </a:r>
            <a:endParaRPr lang="en-US" sz="2200" dirty="0"/>
          </a:p>
        </p:txBody>
      </p:sp>
      <p:sp>
        <p:nvSpPr>
          <p:cNvPr id="11" name="Text 8"/>
          <p:cNvSpPr/>
          <p:nvPr/>
        </p:nvSpPr>
        <p:spPr>
          <a:xfrm>
            <a:off x="7048500" y="4432250"/>
            <a:ext cx="413359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9D2E3"/>
                </a:solidFill>
                <a:latin typeface="Public Sans" pitchFamily="34" charset="0"/>
                <a:ea typeface="Public Sans" pitchFamily="34" charset="-122"/>
                <a:cs typeface="Public Sans" pitchFamily="34" charset="-120"/>
              </a:rPr>
              <a:t>Stock is lost within hours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It reads the battery like a fuel gauge</a:t>
            </a:r>
            <a:endParaRPr lang="en-US" sz="3600" dirty="0"/>
          </a:p>
        </p:txBody>
      </p:sp>
      <p:sp>
        <p:nvSpPr>
          <p:cNvPr id="3" name="Text 1"/>
          <p:cNvSpPr/>
          <p:nvPr/>
        </p:nvSpPr>
        <p:spPr>
          <a:xfrm>
            <a:off x="812800" y="156969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Only part of a battery's voltage range is safe to use. The controller turns that usable portion into a percentage.</a:t>
            </a:r>
            <a:endParaRPr lang="en-US" sz="1600" dirty="0"/>
          </a:p>
        </p:txBody>
      </p:sp>
      <p:sp>
        <p:nvSpPr>
          <p:cNvPr id="4" name="Shape 2"/>
          <p:cNvSpPr/>
          <p:nvPr/>
        </p:nvSpPr>
        <p:spPr>
          <a:xfrm>
            <a:off x="812800" y="3302000"/>
            <a:ext cx="10566400" cy="609600"/>
          </a:xfrm>
          <a:prstGeom prst="roundRect">
            <a:avLst>
              <a:gd name="adj" fmla="val 50000"/>
            </a:avLst>
          </a:prstGeom>
          <a:gradFill rotWithShape="1">
            <a:gsLst>
              <a:gs pos="0">
                <a:srgbClr val="C8553D"/>
              </a:gs>
              <a:gs pos="45000">
                <a:srgbClr val="E0A526"/>
              </a:gs>
              <a:gs pos="100000">
                <a:srgbClr val="2E7D5B"/>
              </a:gs>
            </a:gsLst>
            <a:lin ang="0" scaled="0"/>
          </a:gradFill>
          <a:ln/>
        </p:spPr>
      </p:sp>
      <p:sp>
        <p:nvSpPr>
          <p:cNvPr id="5" name="Shape 3"/>
          <p:cNvSpPr/>
          <p:nvPr/>
        </p:nvSpPr>
        <p:spPr>
          <a:xfrm>
            <a:off x="6057900" y="3149600"/>
            <a:ext cx="76200" cy="914400"/>
          </a:xfrm>
          <a:prstGeom prst="roundRect">
            <a:avLst>
              <a:gd name="adj" fmla="val 50000"/>
            </a:avLst>
          </a:prstGeom>
          <a:solidFill>
            <a:srgbClr val="14213D"/>
          </a:solidFill>
          <a:ln/>
        </p:spPr>
      </p:sp>
      <p:sp>
        <p:nvSpPr>
          <p:cNvPr id="6" name="Text 4"/>
          <p:cNvSpPr/>
          <p:nvPr/>
        </p:nvSpPr>
        <p:spPr>
          <a:xfrm>
            <a:off x="812800" y="4165600"/>
            <a:ext cx="32702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30.0 V = 0 %</a:t>
            </a:r>
            <a:endParaRPr lang="en-US" sz="2200" dirty="0"/>
          </a:p>
        </p:txBody>
      </p:sp>
      <p:sp>
        <p:nvSpPr>
          <p:cNvPr id="7" name="Text 5"/>
          <p:cNvSpPr/>
          <p:nvPr/>
        </p:nvSpPr>
        <p:spPr>
          <a:xfrm>
            <a:off x="812800" y="4546600"/>
            <a:ext cx="32702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Empty</a:t>
            </a:r>
            <a:endParaRPr lang="en-US" sz="1600" dirty="0"/>
          </a:p>
        </p:txBody>
      </p:sp>
      <p:sp>
        <p:nvSpPr>
          <p:cNvPr id="8" name="Text 6"/>
          <p:cNvSpPr/>
          <p:nvPr/>
        </p:nvSpPr>
        <p:spPr>
          <a:xfrm>
            <a:off x="4787900" y="4165600"/>
            <a:ext cx="2616200"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40.75 V = 50 %</a:t>
            </a:r>
            <a:endParaRPr lang="en-US" sz="2200" dirty="0"/>
          </a:p>
        </p:txBody>
      </p:sp>
      <p:sp>
        <p:nvSpPr>
          <p:cNvPr id="9" name="Text 7"/>
          <p:cNvSpPr/>
          <p:nvPr/>
        </p:nvSpPr>
        <p:spPr>
          <a:xfrm>
            <a:off x="4787900" y="4546600"/>
            <a:ext cx="26162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Halfway</a:t>
            </a:r>
            <a:endParaRPr lang="en-US" sz="1600" dirty="0"/>
          </a:p>
        </p:txBody>
      </p:sp>
      <p:sp>
        <p:nvSpPr>
          <p:cNvPr id="10" name="Text 8"/>
          <p:cNvSpPr/>
          <p:nvPr/>
        </p:nvSpPr>
        <p:spPr>
          <a:xfrm>
            <a:off x="8108950" y="4165600"/>
            <a:ext cx="3270250" cy="41652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51.5 V = 100 %</a:t>
            </a:r>
            <a:endParaRPr lang="en-US" sz="2200" dirty="0"/>
          </a:p>
        </p:txBody>
      </p:sp>
      <p:sp>
        <p:nvSpPr>
          <p:cNvPr id="11" name="Text 9"/>
          <p:cNvSpPr/>
          <p:nvPr/>
        </p:nvSpPr>
        <p:spPr>
          <a:xfrm>
            <a:off x="8108950" y="4546600"/>
            <a:ext cx="327025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Full</a:t>
            </a:r>
            <a:endParaRPr lang="en-US" sz="1600" dirty="0"/>
          </a:p>
        </p:txBody>
      </p:sp>
      <p:sp>
        <p:nvSpPr>
          <p:cNvPr id="12" name="Text 10"/>
          <p:cNvSpPr/>
          <p:nvPr/>
        </p:nvSpPr>
        <p:spPr>
          <a:xfrm>
            <a:off x="812800" y="53340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It also </a:t>
            </a:r>
            <a:r>
              <a:rPr lang="en-US" sz="1600" b="1" dirty="0">
                <a:solidFill>
                  <a:srgbClr val="3F4A5A"/>
                </a:solidFill>
                <a:latin typeface="Public Sans" pitchFamily="34" charset="0"/>
                <a:ea typeface="Public Sans" pitchFamily="34" charset="-122"/>
                <a:cs typeface="Public Sans" pitchFamily="34" charset="-120"/>
              </a:rPr>
              <a:t>allows for voltage sag</a:t>
            </a:r>
            <a:r>
              <a:rPr lang="en-US" sz="1600" dirty="0">
                <a:solidFill>
                  <a:srgbClr val="3F4A5A"/>
                </a:solidFill>
                <a:latin typeface="Public Sans" pitchFamily="34" charset="0"/>
                <a:ea typeface="Public Sans" pitchFamily="34" charset="-122"/>
                <a:cs typeface="Public Sans" pitchFamily="34" charset="-120"/>
              </a:rPr>
              <a:t> when a heavy load starts, and </a:t>
            </a:r>
            <a:r>
              <a:rPr lang="en-US" sz="1600" b="1" dirty="0">
                <a:solidFill>
                  <a:srgbClr val="3F4A5A"/>
                </a:solidFill>
                <a:latin typeface="Public Sans" pitchFamily="34" charset="0"/>
                <a:ea typeface="Public Sans" pitchFamily="34" charset="-122"/>
                <a:cs typeface="Public Sans" pitchFamily="34" charset="-120"/>
              </a:rPr>
              <a:t>averages 50 readings a second</a:t>
            </a:r>
            <a:r>
              <a:rPr lang="en-US" sz="1600" dirty="0">
                <a:solidFill>
                  <a:srgbClr val="3F4A5A"/>
                </a:solidFill>
                <a:latin typeface="Public Sans" pitchFamily="34" charset="0"/>
                <a:ea typeface="Public Sans" pitchFamily="34" charset="-122"/>
                <a:cs typeface="Public Sans" pitchFamily="34" charset="-120"/>
              </a:rPr>
              <a:t>, so one noisy reading can't flip a switch.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As the battery drains, one group goes off at a time</a:t>
            </a:r>
            <a:endParaRPr lang="en-US" sz="3600" dirty="0"/>
          </a:p>
        </p:txBody>
      </p:sp>
      <p:sp>
        <p:nvSpPr>
          <p:cNvPr id="3" name="Shape 1"/>
          <p:cNvSpPr/>
          <p:nvPr/>
        </p:nvSpPr>
        <p:spPr>
          <a:xfrm>
            <a:off x="812800" y="2072580"/>
            <a:ext cx="10566400" cy="782340"/>
          </a:xfrm>
          <a:prstGeom prst="roundRect">
            <a:avLst>
              <a:gd name="adj" fmla="val 12987"/>
            </a:avLst>
          </a:prstGeom>
          <a:solidFill>
            <a:srgbClr val="E3EFE7"/>
          </a:solidFill>
          <a:ln/>
        </p:spPr>
      </p:sp>
      <p:sp>
        <p:nvSpPr>
          <p:cNvPr id="4" name="Text 2"/>
          <p:cNvSpPr/>
          <p:nvPr/>
        </p:nvSpPr>
        <p:spPr>
          <a:xfrm>
            <a:off x="1117600" y="2268190"/>
            <a:ext cx="19621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100–66 %</a:t>
            </a:r>
            <a:endParaRPr lang="en-US" sz="2200" dirty="0"/>
          </a:p>
        </p:txBody>
      </p:sp>
      <p:sp>
        <p:nvSpPr>
          <p:cNvPr id="5" name="Text 3"/>
          <p:cNvSpPr/>
          <p:nvPr/>
        </p:nvSpPr>
        <p:spPr>
          <a:xfrm>
            <a:off x="3276600" y="2321520"/>
            <a:ext cx="436905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Everything runs</a:t>
            </a:r>
            <a:r>
              <a:rPr lang="en-US" sz="1600" dirty="0">
                <a:solidFill>
                  <a:srgbClr val="14213D"/>
                </a:solidFill>
                <a:latin typeface="Public Sans" pitchFamily="34" charset="0"/>
                <a:ea typeface="Public Sans" pitchFamily="34" charset="-122"/>
                <a:cs typeface="Public Sans" pitchFamily="34" charset="-120"/>
              </a:rPr>
              <a:t> · 12.8 A</a:t>
            </a:r>
            <a:endParaRPr lang="en-US" sz="1600" dirty="0"/>
          </a:p>
        </p:txBody>
      </p:sp>
      <p:sp>
        <p:nvSpPr>
          <p:cNvPr id="6" name="Text 4"/>
          <p:cNvSpPr/>
          <p:nvPr/>
        </p:nvSpPr>
        <p:spPr>
          <a:xfrm>
            <a:off x="7673340" y="232152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Critical · Essential · Non-ess.</a:t>
            </a:r>
            <a:endParaRPr lang="en-US" sz="1600" dirty="0"/>
          </a:p>
        </p:txBody>
      </p:sp>
      <p:sp>
        <p:nvSpPr>
          <p:cNvPr id="7" name="Shape 5"/>
          <p:cNvSpPr/>
          <p:nvPr/>
        </p:nvSpPr>
        <p:spPr>
          <a:xfrm>
            <a:off x="812800" y="2956520"/>
            <a:ext cx="10566400" cy="782340"/>
          </a:xfrm>
          <a:prstGeom prst="roundRect">
            <a:avLst>
              <a:gd name="adj" fmla="val 12987"/>
            </a:avLst>
          </a:prstGeom>
          <a:solidFill>
            <a:srgbClr val="EEEBE2"/>
          </a:solidFill>
          <a:ln/>
        </p:spPr>
      </p:sp>
      <p:sp>
        <p:nvSpPr>
          <p:cNvPr id="8" name="Text 6"/>
          <p:cNvSpPr/>
          <p:nvPr/>
        </p:nvSpPr>
        <p:spPr>
          <a:xfrm>
            <a:off x="1117600" y="3152130"/>
            <a:ext cx="19621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66–33 %</a:t>
            </a:r>
            <a:endParaRPr lang="en-US" sz="2200" dirty="0"/>
          </a:p>
        </p:txBody>
      </p:sp>
      <p:sp>
        <p:nvSpPr>
          <p:cNvPr id="9" name="Text 7"/>
          <p:cNvSpPr/>
          <p:nvPr/>
        </p:nvSpPr>
        <p:spPr>
          <a:xfrm>
            <a:off x="3276600" y="3205460"/>
            <a:ext cx="436905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Non-essential off</a:t>
            </a:r>
            <a:r>
              <a:rPr lang="en-US" sz="1600" dirty="0">
                <a:solidFill>
                  <a:srgbClr val="14213D"/>
                </a:solidFill>
                <a:latin typeface="Public Sans" pitchFamily="34" charset="0"/>
                <a:ea typeface="Public Sans" pitchFamily="34" charset="-122"/>
                <a:cs typeface="Public Sans" pitchFamily="34" charset="-120"/>
              </a:rPr>
              <a:t> · 8.3 A</a:t>
            </a:r>
            <a:endParaRPr lang="en-US" sz="1600" dirty="0"/>
          </a:p>
        </p:txBody>
      </p:sp>
      <p:sp>
        <p:nvSpPr>
          <p:cNvPr id="10" name="Text 8"/>
          <p:cNvSpPr/>
          <p:nvPr/>
        </p:nvSpPr>
        <p:spPr>
          <a:xfrm>
            <a:off x="7673340" y="320546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Critical · Essential</a:t>
            </a:r>
            <a:endParaRPr lang="en-US" sz="1600" dirty="0"/>
          </a:p>
        </p:txBody>
      </p:sp>
      <p:sp>
        <p:nvSpPr>
          <p:cNvPr id="11" name="Shape 9"/>
          <p:cNvSpPr/>
          <p:nvPr/>
        </p:nvSpPr>
        <p:spPr>
          <a:xfrm>
            <a:off x="812800" y="3840460"/>
            <a:ext cx="10566400" cy="782340"/>
          </a:xfrm>
          <a:prstGeom prst="roundRect">
            <a:avLst>
              <a:gd name="adj" fmla="val 12987"/>
            </a:avLst>
          </a:prstGeom>
          <a:solidFill>
            <a:srgbClr val="F8EDD3"/>
          </a:solidFill>
          <a:ln/>
        </p:spPr>
      </p:sp>
      <p:sp>
        <p:nvSpPr>
          <p:cNvPr id="12" name="Text 10"/>
          <p:cNvSpPr/>
          <p:nvPr/>
        </p:nvSpPr>
        <p:spPr>
          <a:xfrm>
            <a:off x="1117600" y="4036070"/>
            <a:ext cx="19621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33–10 %</a:t>
            </a:r>
            <a:endParaRPr lang="en-US" sz="2200" dirty="0"/>
          </a:p>
        </p:txBody>
      </p:sp>
      <p:sp>
        <p:nvSpPr>
          <p:cNvPr id="13" name="Text 11"/>
          <p:cNvSpPr/>
          <p:nvPr/>
        </p:nvSpPr>
        <p:spPr>
          <a:xfrm>
            <a:off x="3276600" y="4089400"/>
            <a:ext cx="436905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Only Critical on</a:t>
            </a:r>
            <a:r>
              <a:rPr lang="en-US" sz="1600" dirty="0">
                <a:solidFill>
                  <a:srgbClr val="14213D"/>
                </a:solidFill>
                <a:latin typeface="Public Sans" pitchFamily="34" charset="0"/>
                <a:ea typeface="Public Sans" pitchFamily="34" charset="-122"/>
                <a:cs typeface="Public Sans" pitchFamily="34" charset="-120"/>
              </a:rPr>
              <a:t> · 2.5 A</a:t>
            </a:r>
            <a:endParaRPr lang="en-US" sz="1600" dirty="0"/>
          </a:p>
        </p:txBody>
      </p:sp>
      <p:sp>
        <p:nvSpPr>
          <p:cNvPr id="14" name="Text 12"/>
          <p:cNvSpPr/>
          <p:nvPr/>
        </p:nvSpPr>
        <p:spPr>
          <a:xfrm>
            <a:off x="7673340" y="408940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Critical</a:t>
            </a:r>
            <a:endParaRPr lang="en-US" sz="1600" dirty="0"/>
          </a:p>
        </p:txBody>
      </p:sp>
      <p:sp>
        <p:nvSpPr>
          <p:cNvPr id="15" name="Shape 13"/>
          <p:cNvSpPr/>
          <p:nvPr/>
        </p:nvSpPr>
        <p:spPr>
          <a:xfrm>
            <a:off x="812800" y="4724400"/>
            <a:ext cx="10566400" cy="782340"/>
          </a:xfrm>
          <a:prstGeom prst="roundRect">
            <a:avLst>
              <a:gd name="adj" fmla="val 12987"/>
            </a:avLst>
          </a:prstGeom>
          <a:solidFill>
            <a:srgbClr val="F4DDD6"/>
          </a:solidFill>
          <a:ln/>
        </p:spPr>
      </p:sp>
      <p:sp>
        <p:nvSpPr>
          <p:cNvPr id="16" name="Text 14"/>
          <p:cNvSpPr/>
          <p:nvPr/>
        </p:nvSpPr>
        <p:spPr>
          <a:xfrm>
            <a:off x="1117600" y="4920010"/>
            <a:ext cx="196215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Below 10 %</a:t>
            </a:r>
            <a:endParaRPr lang="en-US" sz="2200" dirty="0"/>
          </a:p>
        </p:txBody>
      </p:sp>
      <p:sp>
        <p:nvSpPr>
          <p:cNvPr id="17" name="Text 15"/>
          <p:cNvSpPr/>
          <p:nvPr/>
        </p:nvSpPr>
        <p:spPr>
          <a:xfrm>
            <a:off x="3276600" y="4973340"/>
            <a:ext cx="436905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All off: battery protected</a:t>
            </a:r>
            <a:r>
              <a:rPr lang="en-US" sz="1600" dirty="0">
                <a:solidFill>
                  <a:srgbClr val="14213D"/>
                </a:solidFill>
                <a:latin typeface="Public Sans" pitchFamily="34" charset="0"/>
                <a:ea typeface="Public Sans" pitchFamily="34" charset="-122"/>
                <a:cs typeface="Public Sans" pitchFamily="34" charset="-120"/>
              </a:rPr>
              <a:t> · 0 A</a:t>
            </a:r>
            <a:endParaRPr lang="en-US" sz="1600" dirty="0"/>
          </a:p>
        </p:txBody>
      </p:sp>
      <p:sp>
        <p:nvSpPr>
          <p:cNvPr id="18" name="Text 16"/>
          <p:cNvSpPr/>
          <p:nvPr/>
        </p:nvSpPr>
        <p:spPr>
          <a:xfrm>
            <a:off x="7673340" y="497334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Nothing: waiting for sun</a:t>
            </a:r>
            <a:endParaRPr lang="en-US" sz="1600" dirty="0"/>
          </a:p>
        </p:txBody>
      </p:sp>
      <p:sp>
        <p:nvSpPr>
          <p:cNvPr id="19" name="Text 17"/>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When the sun returns, they come back in reverse order: most important first.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Like a thermostat, it doesn't flick on and off</a:t>
            </a:r>
            <a:endParaRPr lang="en-US" sz="3600" dirty="0"/>
          </a:p>
        </p:txBody>
      </p:sp>
      <p:sp>
        <p:nvSpPr>
          <p:cNvPr id="3" name="Text 1"/>
          <p:cNvSpPr/>
          <p:nvPr/>
        </p:nvSpPr>
        <p:spPr>
          <a:xfrm>
            <a:off x="812800" y="1620490"/>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The first version switched off and on at one voltage. The load pulled the voltage down, it switched off, the voltage recovered, it switched on again: thousands of times a second.</a:t>
            </a:r>
            <a:endParaRPr lang="en-US" sz="1600" dirty="0"/>
          </a:p>
        </p:txBody>
      </p:sp>
      <p:sp>
        <p:nvSpPr>
          <p:cNvPr id="4" name="Shape 2"/>
          <p:cNvSpPr/>
          <p:nvPr/>
        </p:nvSpPr>
        <p:spPr>
          <a:xfrm>
            <a:off x="812800" y="2494211"/>
            <a:ext cx="5207000" cy="1699270"/>
          </a:xfrm>
          <a:prstGeom prst="roundRect">
            <a:avLst>
              <a:gd name="adj" fmla="val 5979"/>
            </a:avLst>
          </a:prstGeom>
          <a:solidFill>
            <a:srgbClr val="FFFDF8"/>
          </a:solidFill>
          <a:ln/>
        </p:spPr>
      </p:sp>
      <p:sp>
        <p:nvSpPr>
          <p:cNvPr id="5" name="Shape 3"/>
          <p:cNvSpPr/>
          <p:nvPr/>
        </p:nvSpPr>
        <p:spPr>
          <a:xfrm>
            <a:off x="812800" y="2494211"/>
            <a:ext cx="5207000" cy="1699270"/>
          </a:xfrm>
          <a:custGeom>
            <a:avLst/>
            <a:gdLst/>
            <a:ahLst/>
            <a:cxnLst/>
            <a:rect l="l" t="t" r="r" b="b"/>
            <a:pathLst>
              <a:path w="5207000" h="1699270">
                <a:moveTo>
                  <a:pt x="101600" y="1699270"/>
                </a:moveTo>
                <a:lnTo>
                  <a:pt x="101600" y="1699270"/>
                </a:lnTo>
                <a:arcTo hR="101600" wR="101600" stAng="5400000" swAng="5400000"/>
                <a:lnTo>
                  <a:pt x="0" y="101600"/>
                </a:lnTo>
                <a:arcTo hR="101600" wR="101600" stAng="10800000" swAng="5400000"/>
                <a:lnTo>
                  <a:pt x="101600" y="0"/>
                </a:lnTo>
                <a:arcTo hR="101600" wR="50800" stAng="16200000" swAng="-5400000"/>
                <a:lnTo>
                  <a:pt x="50800" y="1597670"/>
                </a:lnTo>
                <a:arcTo hR="101600" wR="50800" stAng="10800000" swAng="-5400000"/>
                <a:close/>
              </a:path>
            </a:pathLst>
          </a:custGeom>
          <a:solidFill>
            <a:srgbClr val="F2A33A"/>
          </a:solidFill>
          <a:ln/>
        </p:spPr>
      </p:sp>
      <p:sp>
        <p:nvSpPr>
          <p:cNvPr id="6" name="Text 4"/>
          <p:cNvSpPr/>
          <p:nvPr/>
        </p:nvSpPr>
        <p:spPr>
          <a:xfrm>
            <a:off x="1117600" y="2722811"/>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A gap between off and on</a:t>
            </a:r>
            <a:endParaRPr lang="en-US" sz="1600" dirty="0"/>
          </a:p>
        </p:txBody>
      </p:sp>
      <p:sp>
        <p:nvSpPr>
          <p:cNvPr id="7" name="Text 5"/>
          <p:cNvSpPr/>
          <p:nvPr/>
        </p:nvSpPr>
        <p:spPr>
          <a:xfrm>
            <a:off x="1117600" y="301744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Off at 66 %, back on only at 73 %</a:t>
            </a:r>
            <a:endParaRPr lang="en-US" sz="1400" dirty="0"/>
          </a:p>
        </p:txBody>
      </p:sp>
      <p:sp>
        <p:nvSpPr>
          <p:cNvPr id="8" name="Shape 6"/>
          <p:cNvSpPr/>
          <p:nvPr/>
        </p:nvSpPr>
        <p:spPr>
          <a:xfrm>
            <a:off x="6172200" y="2494211"/>
            <a:ext cx="5207000" cy="1699270"/>
          </a:xfrm>
          <a:prstGeom prst="roundRect">
            <a:avLst>
              <a:gd name="adj" fmla="val 5979"/>
            </a:avLst>
          </a:prstGeom>
          <a:solidFill>
            <a:srgbClr val="FFFDF8"/>
          </a:solidFill>
          <a:ln/>
        </p:spPr>
      </p:sp>
      <p:sp>
        <p:nvSpPr>
          <p:cNvPr id="9" name="Shape 7"/>
          <p:cNvSpPr/>
          <p:nvPr/>
        </p:nvSpPr>
        <p:spPr>
          <a:xfrm>
            <a:off x="6172200" y="2494211"/>
            <a:ext cx="5207000" cy="1699270"/>
          </a:xfrm>
          <a:custGeom>
            <a:avLst/>
            <a:gdLst/>
            <a:ahLst/>
            <a:cxnLst/>
            <a:rect l="l" t="t" r="r" b="b"/>
            <a:pathLst>
              <a:path w="5207000" h="1699270">
                <a:moveTo>
                  <a:pt x="101600" y="1699270"/>
                </a:moveTo>
                <a:lnTo>
                  <a:pt x="101600" y="1699270"/>
                </a:lnTo>
                <a:arcTo hR="101600" wR="101600" stAng="5400000" swAng="5400000"/>
                <a:lnTo>
                  <a:pt x="0" y="101600"/>
                </a:lnTo>
                <a:arcTo hR="101600" wR="101600" stAng="10800000" swAng="5400000"/>
                <a:lnTo>
                  <a:pt x="101600" y="0"/>
                </a:lnTo>
                <a:arcTo hR="101600" wR="50800" stAng="16200000" swAng="-5400000"/>
                <a:lnTo>
                  <a:pt x="50800" y="1597670"/>
                </a:lnTo>
                <a:arcTo hR="101600" wR="50800" stAng="10800000" swAng="-5400000"/>
                <a:close/>
              </a:path>
            </a:pathLst>
          </a:custGeom>
          <a:solidFill>
            <a:srgbClr val="F2A33A"/>
          </a:solidFill>
          <a:ln/>
        </p:spPr>
      </p:sp>
      <p:sp>
        <p:nvSpPr>
          <p:cNvPr id="10" name="Text 8"/>
          <p:cNvSpPr/>
          <p:nvPr/>
        </p:nvSpPr>
        <p:spPr>
          <a:xfrm>
            <a:off x="6477000" y="2722811"/>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Wait before acting</a:t>
            </a:r>
            <a:endParaRPr lang="en-US" sz="1600" dirty="0"/>
          </a:p>
        </p:txBody>
      </p:sp>
      <p:sp>
        <p:nvSpPr>
          <p:cNvPr id="11" name="Text 9"/>
          <p:cNvSpPr/>
          <p:nvPr/>
        </p:nvSpPr>
        <p:spPr>
          <a:xfrm>
            <a:off x="6477000" y="301744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A brief dip is ignored; switching back waits longer</a:t>
            </a:r>
            <a:endParaRPr lang="en-US" sz="1400" dirty="0"/>
          </a:p>
        </p:txBody>
      </p:sp>
      <p:sp>
        <p:nvSpPr>
          <p:cNvPr id="12" name="Shape 10"/>
          <p:cNvSpPr/>
          <p:nvPr/>
        </p:nvSpPr>
        <p:spPr>
          <a:xfrm>
            <a:off x="812800" y="4345880"/>
            <a:ext cx="5207000" cy="1699320"/>
          </a:xfrm>
          <a:prstGeom prst="roundRect">
            <a:avLst>
              <a:gd name="adj" fmla="val 5979"/>
            </a:avLst>
          </a:prstGeom>
          <a:solidFill>
            <a:srgbClr val="FFFDF8"/>
          </a:solidFill>
          <a:ln/>
        </p:spPr>
      </p:sp>
      <p:sp>
        <p:nvSpPr>
          <p:cNvPr id="13" name="Shape 11"/>
          <p:cNvSpPr/>
          <p:nvPr/>
        </p:nvSpPr>
        <p:spPr>
          <a:xfrm>
            <a:off x="812800" y="4345880"/>
            <a:ext cx="5207000" cy="1699320"/>
          </a:xfrm>
          <a:custGeom>
            <a:avLst/>
            <a:gdLst/>
            <a:ahLst/>
            <a:cxnLst/>
            <a:rect l="l" t="t" r="r" b="b"/>
            <a:pathLst>
              <a:path w="5207000" h="1699320">
                <a:moveTo>
                  <a:pt x="101600" y="1699320"/>
                </a:moveTo>
                <a:lnTo>
                  <a:pt x="101600" y="1699320"/>
                </a:lnTo>
                <a:arcTo hR="101600" wR="101600" stAng="5400000" swAng="5400000"/>
                <a:lnTo>
                  <a:pt x="0" y="101600"/>
                </a:lnTo>
                <a:arcTo hR="101600" wR="101600" stAng="10800000" swAng="5400000"/>
                <a:lnTo>
                  <a:pt x="101600" y="0"/>
                </a:lnTo>
                <a:arcTo hR="101600" wR="50800" stAng="16200000" swAng="-5400000"/>
                <a:lnTo>
                  <a:pt x="50800" y="1597720"/>
                </a:lnTo>
                <a:arcTo hR="101600" wR="50800" stAng="10800000" swAng="-5400000"/>
                <a:close/>
              </a:path>
            </a:pathLst>
          </a:custGeom>
          <a:solidFill>
            <a:srgbClr val="F2A33A"/>
          </a:solidFill>
          <a:ln/>
        </p:spPr>
      </p:sp>
      <p:sp>
        <p:nvSpPr>
          <p:cNvPr id="14" name="Text 12"/>
          <p:cNvSpPr/>
          <p:nvPr/>
        </p:nvSpPr>
        <p:spPr>
          <a:xfrm>
            <a:off x="1117600" y="4574480"/>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A rest period per switch</a:t>
            </a:r>
            <a:endParaRPr lang="en-US" sz="1600" dirty="0"/>
          </a:p>
        </p:txBody>
      </p:sp>
      <p:sp>
        <p:nvSpPr>
          <p:cNvPr id="15" name="Text 13"/>
          <p:cNvSpPr/>
          <p:nvPr/>
        </p:nvSpPr>
        <p:spPr>
          <a:xfrm>
            <a:off x="1117600" y="486911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Each relay has a minimum time between changes</a:t>
            </a:r>
            <a:endParaRPr lang="en-US" sz="1400" dirty="0"/>
          </a:p>
        </p:txBody>
      </p:sp>
      <p:sp>
        <p:nvSpPr>
          <p:cNvPr id="16" name="Shape 14"/>
          <p:cNvSpPr/>
          <p:nvPr/>
        </p:nvSpPr>
        <p:spPr>
          <a:xfrm>
            <a:off x="6172200" y="4345880"/>
            <a:ext cx="5207000" cy="1699320"/>
          </a:xfrm>
          <a:prstGeom prst="roundRect">
            <a:avLst>
              <a:gd name="adj" fmla="val 5979"/>
            </a:avLst>
          </a:prstGeom>
          <a:solidFill>
            <a:srgbClr val="FFFDF8"/>
          </a:solidFill>
          <a:ln/>
        </p:spPr>
      </p:sp>
      <p:sp>
        <p:nvSpPr>
          <p:cNvPr id="17" name="Shape 15"/>
          <p:cNvSpPr/>
          <p:nvPr/>
        </p:nvSpPr>
        <p:spPr>
          <a:xfrm>
            <a:off x="6172200" y="4345880"/>
            <a:ext cx="5207000" cy="1699320"/>
          </a:xfrm>
          <a:custGeom>
            <a:avLst/>
            <a:gdLst/>
            <a:ahLst/>
            <a:cxnLst/>
            <a:rect l="l" t="t" r="r" b="b"/>
            <a:pathLst>
              <a:path w="5207000" h="1699320">
                <a:moveTo>
                  <a:pt x="101600" y="1699320"/>
                </a:moveTo>
                <a:lnTo>
                  <a:pt x="101600" y="1699320"/>
                </a:lnTo>
                <a:arcTo hR="101600" wR="101600" stAng="5400000" swAng="5400000"/>
                <a:lnTo>
                  <a:pt x="0" y="101600"/>
                </a:lnTo>
                <a:arcTo hR="101600" wR="101600" stAng="10800000" swAng="5400000"/>
                <a:lnTo>
                  <a:pt x="101600" y="0"/>
                </a:lnTo>
                <a:arcTo hR="101600" wR="50800" stAng="16200000" swAng="-5400000"/>
                <a:lnTo>
                  <a:pt x="50800" y="1597720"/>
                </a:lnTo>
                <a:arcTo hR="101600" wR="50800" stAng="10800000" swAng="-5400000"/>
                <a:close/>
              </a:path>
            </a:pathLst>
          </a:custGeom>
          <a:solidFill>
            <a:srgbClr val="F2A33A"/>
          </a:solidFill>
          <a:ln/>
        </p:spPr>
      </p:sp>
      <p:sp>
        <p:nvSpPr>
          <p:cNvPr id="18" name="Text 16"/>
          <p:cNvSpPr/>
          <p:nvPr/>
        </p:nvSpPr>
        <p:spPr>
          <a:xfrm>
            <a:off x="6477000" y="4574480"/>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One switch at a time</a:t>
            </a:r>
            <a:endParaRPr lang="en-US" sz="1600" dirty="0"/>
          </a:p>
        </p:txBody>
      </p:sp>
      <p:sp>
        <p:nvSpPr>
          <p:cNvPr id="19" name="Text 17"/>
          <p:cNvSpPr/>
          <p:nvPr/>
        </p:nvSpPr>
        <p:spPr>
          <a:xfrm>
            <a:off x="6477000" y="486911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Two groups never switch at the same instant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It also acts as a smart circuit breaker</a:t>
            </a:r>
            <a:endParaRPr lang="en-US" sz="3600" dirty="0"/>
          </a:p>
        </p:txBody>
      </p:sp>
      <p:sp>
        <p:nvSpPr>
          <p:cNvPr id="3" name="Text 1"/>
          <p:cNvSpPr/>
          <p:nvPr/>
        </p:nvSpPr>
        <p:spPr>
          <a:xfrm>
            <a:off x="812800" y="1620490"/>
            <a:ext cx="60172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9A5A00"/>
                </a:solidFill>
                <a:latin typeface="Public Sans" pitchFamily="34" charset="0"/>
                <a:ea typeface="Public Sans" pitchFamily="34" charset="-122"/>
                <a:cs typeface="Public Sans" pitchFamily="34" charset="-120"/>
              </a:rPr>
              <a:t>When too much current is drawn</a:t>
            </a:r>
            <a:endParaRPr lang="en-US" sz="2200" dirty="0"/>
          </a:p>
        </p:txBody>
      </p:sp>
      <p:sp>
        <p:nvSpPr>
          <p:cNvPr id="4" name="Text 2"/>
          <p:cNvSpPr/>
          <p:nvPr/>
        </p:nvSpPr>
        <p:spPr>
          <a:xfrm>
            <a:off x="812800" y="2133550"/>
            <a:ext cx="601726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Above 20 A</a:t>
            </a:r>
            <a:r>
              <a:rPr lang="en-US" sz="1600" dirty="0">
                <a:solidFill>
                  <a:srgbClr val="14213D"/>
                </a:solidFill>
                <a:latin typeface="Public Sans" pitchFamily="34" charset="0"/>
                <a:ea typeface="Public Sans" pitchFamily="34" charset="-122"/>
                <a:cs typeface="Public Sans" pitchFamily="34" charset="-120"/>
              </a:rPr>
              <a:t> for a moment: Essential and Non-essential go off. A motor's start-up surge doesn't set it off.</a:t>
            </a:r>
            <a:endParaRPr lang="en-US" sz="1600" dirty="0"/>
          </a:p>
        </p:txBody>
      </p:sp>
      <p:sp>
        <p:nvSpPr>
          <p:cNvPr id="5" name="Text 3"/>
          <p:cNvSpPr/>
          <p:nvPr/>
        </p:nvSpPr>
        <p:spPr>
          <a:xfrm>
            <a:off x="812800" y="2880271"/>
            <a:ext cx="60172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Above 26 A:</a:t>
            </a:r>
            <a:r>
              <a:rPr lang="en-US" sz="1600" dirty="0">
                <a:solidFill>
                  <a:srgbClr val="14213D"/>
                </a:solidFill>
                <a:latin typeface="Public Sans" pitchFamily="34" charset="0"/>
                <a:ea typeface="Public Sans" pitchFamily="34" charset="-122"/>
                <a:cs typeface="Public Sans" pitchFamily="34" charset="-120"/>
              </a:rPr>
              <a:t> off instantly.</a:t>
            </a:r>
            <a:endParaRPr lang="en-US" sz="1600" dirty="0"/>
          </a:p>
        </p:txBody>
      </p:sp>
      <p:sp>
        <p:nvSpPr>
          <p:cNvPr id="6" name="Text 4"/>
          <p:cNvSpPr/>
          <p:nvPr/>
        </p:nvSpPr>
        <p:spPr>
          <a:xfrm>
            <a:off x="812800" y="3342531"/>
            <a:ext cx="60172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Critical stays on.</a:t>
            </a:r>
            <a:r>
              <a:rPr lang="en-US" sz="1600" dirty="0">
                <a:solidFill>
                  <a:srgbClr val="14213D"/>
                </a:solidFill>
                <a:latin typeface="Public Sans" pitchFamily="34" charset="0"/>
                <a:ea typeface="Public Sans" pitchFamily="34" charset="-122"/>
                <a:cs typeface="Public Sans" pitchFamily="34" charset="-120"/>
              </a:rPr>
              <a:t> Too many appliances is not a flat battery.</a:t>
            </a:r>
            <a:endParaRPr lang="en-US" sz="1600" dirty="0"/>
          </a:p>
        </p:txBody>
      </p:sp>
      <p:sp>
        <p:nvSpPr>
          <p:cNvPr id="7" name="Text 5"/>
          <p:cNvSpPr/>
          <p:nvPr/>
        </p:nvSpPr>
        <p:spPr>
          <a:xfrm>
            <a:off x="812800" y="3804791"/>
            <a:ext cx="60172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Three trips in a row</a:t>
            </a:r>
            <a:r>
              <a:rPr lang="en-US" sz="1600" dirty="0">
                <a:solidFill>
                  <a:srgbClr val="14213D"/>
                </a:solidFill>
                <a:latin typeface="Public Sans" pitchFamily="34" charset="0"/>
                <a:ea typeface="Public Sans" pitchFamily="34" charset="-122"/>
                <a:cs typeface="Public Sans" pitchFamily="34" charset="-120"/>
              </a:rPr>
              <a:t> = a real fault. It stops retrying until reset.</a:t>
            </a:r>
            <a:endParaRPr lang="en-US" sz="1600" dirty="0"/>
          </a:p>
        </p:txBody>
      </p:sp>
      <p:sp>
        <p:nvSpPr>
          <p:cNvPr id="8" name="Text 6"/>
          <p:cNvSpPr/>
          <p:nvPr/>
        </p:nvSpPr>
        <p:spPr>
          <a:xfrm>
            <a:off x="7061200" y="1620490"/>
            <a:ext cx="4447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9A5A00"/>
                </a:solidFill>
                <a:latin typeface="Public Sans" pitchFamily="34" charset="0"/>
                <a:ea typeface="Public Sans" pitchFamily="34" charset="-122"/>
                <a:cs typeface="Public Sans" pitchFamily="34" charset="-120"/>
              </a:rPr>
              <a:t>What the buzzer means</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73900" y="2146250"/>
          <a:ext cx="4305300" cy="2196703"/>
        </p:xfrm>
        <a:graphic>
          <a:graphicData uri="http://schemas.openxmlformats.org/drawingml/2006/table">
            <a:tbl>
              <a:tblPr/>
              <a:tblGrid>
                <a:gridCol w="1937385"/>
                <a:gridCol w="2367915"/>
              </a:tblGrid>
              <a:tr h="439341">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Sound</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Meaning</a:t>
                      </a:r>
                      <a:endParaRPr lang="en-US" sz="1600" dirty="0">
                        <a:latin typeface="Public Sans" charset="0"/>
                        <a:ea typeface="Public Sans" charset="0"/>
                        <a:cs typeface="Public Sans" charset="0"/>
                      </a:endParaRPr>
                    </a:p>
                  </a:txBody>
                  <a:tcPr marL="71120" marR="71120" marT="71120" marB="7112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r>
              <a:tr h="439341">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Fast beeping</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Overload</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Slow toll</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Battery nearly empty</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Chirp</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Below 20 %</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Silent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All normal</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7F5EE"/>
                </a:solidFill>
                <a:latin typeface="Domine" pitchFamily="34" charset="0"/>
                <a:ea typeface="Domine" pitchFamily="34" charset="-122"/>
                <a:cs typeface="Domine" pitchFamily="34" charset="-120"/>
              </a:rPr>
              <a:t>Live demo: draining the battery on command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636044"/>
        </p:xfrm>
        <a:graphic>
          <a:graphicData uri="http://schemas.openxmlformats.org/drawingml/2006/table">
            <a:tbl>
              <a:tblPr/>
              <a:tblGrid>
                <a:gridCol w="1899666"/>
                <a:gridCol w="4432554"/>
                <a:gridCol w="4221480"/>
              </a:tblGrid>
              <a:tr h="439341">
                <a:tc>
                  <a:txBody>
                    <a:bodyPr/>
                    <a:lstStyle/>
                    <a:p>
                      <a:pPr indent="0" marL="0">
                        <a:lnSpc>
                          <a:spcPts val="2240"/>
                        </a:lnSpc>
                        <a:buNone/>
                      </a:pPr>
                      <a:r>
                        <a:rPr lang="en-US" sz="1600" b="1" dirty="0">
                          <a:solidFill>
                            <a:srgbClr val="F7F5EE"/>
                          </a:solidFill>
                          <a:latin typeface="Public Sans" pitchFamily="34" charset="0"/>
                          <a:ea typeface="Public Sans" pitchFamily="34" charset="-122"/>
                          <a:cs typeface="Public Sans" pitchFamily="34" charset="-120"/>
                        </a:rPr>
                        <a:t>Type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240"/>
                        </a:lnSpc>
                        <a:buNone/>
                      </a:pPr>
                      <a:r>
                        <a:rPr lang="en-US" sz="1600" b="1" dirty="0">
                          <a:solidFill>
                            <a:srgbClr val="F7F5EE"/>
                          </a:solidFill>
                          <a:latin typeface="Public Sans" pitchFamily="34" charset="0"/>
                          <a:ea typeface="Public Sans" pitchFamily="34" charset="-122"/>
                          <a:cs typeface="Public Sans" pitchFamily="34" charset="-120"/>
                        </a:rPr>
                        <a:t>You will see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240"/>
                        </a:lnSpc>
                        <a:buNone/>
                      </a:pPr>
                      <a:r>
                        <a:rPr lang="en-US" sz="1600" b="1" dirty="0">
                          <a:solidFill>
                            <a:srgbClr val="F7F5EE"/>
                          </a:solidFill>
                          <a:latin typeface="Public Sans" pitchFamily="34" charset="0"/>
                          <a:ea typeface="Public Sans" pitchFamily="34" charset="-122"/>
                          <a:cs typeface="Public Sans" pitchFamily="34" charset="-120"/>
                        </a:rPr>
                        <a:t>Because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439341">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soc 100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All three lights on, fan spinning</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Full battery: everything runs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soc 60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Red light goes out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Below 66 %</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soc 30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Yellow light out, fan stops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Below 33 %</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soc 5</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Green light out, buzzer tolls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Below 10 %: protect the battery</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soc 100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Groups return one by one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Most important first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4" name="Text 1"/>
          <p:cNvSpPr/>
          <p:nvPr/>
        </p:nvSpPr>
        <p:spPr>
          <a:xfrm>
            <a:off x="812800" y="457403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Public Sans" pitchFamily="34" charset="0"/>
                <a:ea typeface="Public Sans" pitchFamily="34" charset="-122"/>
                <a:cs typeface="Public Sans" pitchFamily="34" charset="-120"/>
              </a:rPr>
              <a:t>The screen shows volts, amps and battery %, e.g. </a:t>
            </a:r>
            <a:r>
              <a:rPr lang="en-US" sz="1600" b="1" dirty="0">
                <a:solidFill>
                  <a:srgbClr val="C9D2E3"/>
                </a:solidFill>
                <a:latin typeface="Public Sans" pitchFamily="34" charset="0"/>
                <a:ea typeface="Public Sans" pitchFamily="34" charset="-122"/>
                <a:cs typeface="Public Sans" pitchFamily="34" charset="-120"/>
              </a:rPr>
              <a:t>44.2V 6.4A 78%</a:t>
            </a:r>
            <a:r>
              <a:rPr lang="en-US" sz="1600" dirty="0">
                <a:solidFill>
                  <a:srgbClr val="C9D2E3"/>
                </a:solidFill>
                <a:latin typeface="Public Sans" pitchFamily="34" charset="0"/>
                <a:ea typeface="Public Sans" pitchFamily="34" charset="-122"/>
                <a:cs typeface="Public Sans" pitchFamily="34" charset="-120"/>
              </a:rPr>
              <a:t>, and which groups are 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Built from cheap parts you can buy locally</a:t>
            </a:r>
            <a:endParaRPr lang="en-US" sz="3600" dirty="0"/>
          </a:p>
        </p:txBody>
      </p:sp>
      <p:sp>
        <p:nvSpPr>
          <p:cNvPr id="3" name="Shape 1"/>
          <p:cNvSpPr/>
          <p:nvPr/>
        </p:nvSpPr>
        <p:spPr>
          <a:xfrm>
            <a:off x="812800" y="1620490"/>
            <a:ext cx="3556000" cy="3291780"/>
          </a:xfrm>
          <a:prstGeom prst="roundRect">
            <a:avLst>
              <a:gd name="adj" fmla="val 4630"/>
            </a:avLst>
          </a:prstGeom>
          <a:solidFill>
            <a:srgbClr val="14213D"/>
          </a:solidFill>
          <a:ln/>
        </p:spPr>
      </p:sp>
      <p:sp>
        <p:nvSpPr>
          <p:cNvPr id="4" name="Text 2"/>
          <p:cNvSpPr/>
          <p:nvPr/>
        </p:nvSpPr>
        <p:spPr>
          <a:xfrm>
            <a:off x="1168400" y="1976090"/>
            <a:ext cx="2930144" cy="1549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33A"/>
                </a:solidFill>
                <a:latin typeface="Domine" pitchFamily="34" charset="0"/>
                <a:ea typeface="Domine" pitchFamily="34" charset="-122"/>
                <a:cs typeface="Domine" pitchFamily="34" charset="-120"/>
              </a:rPr>
              <a:t>₦24,000</a:t>
            </a:r>
            <a:endParaRPr lang="en-US" sz="6000" dirty="0"/>
          </a:p>
        </p:txBody>
      </p:sp>
      <p:sp>
        <p:nvSpPr>
          <p:cNvPr id="5" name="Text 3"/>
          <p:cNvSpPr/>
          <p:nvPr/>
        </p:nvSpPr>
        <p:spPr>
          <a:xfrm>
            <a:off x="1168400" y="3601690"/>
            <a:ext cx="293014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E"/>
                </a:solidFill>
                <a:latin typeface="Public Sans" pitchFamily="34" charset="0"/>
                <a:ea typeface="Public Sans" pitchFamily="34" charset="-122"/>
                <a:cs typeface="Public Sans" pitchFamily="34" charset="-120"/>
              </a:rPr>
              <a:t>for the control electronics</a:t>
            </a:r>
            <a:endParaRPr lang="en-US" sz="1600" dirty="0"/>
          </a:p>
        </p:txBody>
      </p:sp>
      <p:sp>
        <p:nvSpPr>
          <p:cNvPr id="6" name="Text 4"/>
          <p:cNvSpPr/>
          <p:nvPr/>
        </p:nvSpPr>
        <p:spPr>
          <a:xfrm>
            <a:off x="1168400" y="3987750"/>
            <a:ext cx="29301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Public Sans" pitchFamily="34" charset="0"/>
                <a:ea typeface="Public Sans" pitchFamily="34" charset="-122"/>
                <a:cs typeface="Public Sans" pitchFamily="34" charset="-120"/>
              </a:rPr>
              <a:t>About ₦47,000 with a bench model to demonstrate on</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87900" y="1633190"/>
          <a:ext cx="6591300" cy="2702074"/>
        </p:xfrm>
        <a:graphic>
          <a:graphicData uri="http://schemas.openxmlformats.org/drawingml/2006/table">
            <a:tbl>
              <a:tblPr/>
              <a:tblGrid>
                <a:gridCol w="2900172"/>
                <a:gridCol w="3691128"/>
              </a:tblGrid>
              <a:tr h="386011">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Part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What it does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ESP32 board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The brain: reads and decides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16×2 LCD screen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Shows volts, amps, battery %</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4-channel relay board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The switches for each group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ACS712 sensor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Measures current drawn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48 V to 5 V converter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Powers the electronics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Buzzer, LEDs, resistors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Alarm and indicator lights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A"/>
                </a:solidFill>
                <a:latin typeface="Public Sans" pitchFamily="34" charset="0"/>
                <a:ea typeface="Public Sans" pitchFamily="34" charset="-122"/>
                <a:cs typeface="Public Sans" pitchFamily="34" charset="-120"/>
              </a:rPr>
              <a:t>Indicative prices from Alaba and Computer Village; confirm before quoting in the report.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Every change traces back to the supervisor's review</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136080"/>
          <a:ext cx="10553700" cy="2316063"/>
        </p:xfrm>
        <a:graphic>
          <a:graphicData uri="http://schemas.openxmlformats.org/drawingml/2006/table">
            <a:tbl>
              <a:tblPr/>
              <a:tblGrid>
                <a:gridCol w="3588258"/>
                <a:gridCol w="3166110"/>
                <a:gridCol w="3799332"/>
              </a:tblGrid>
              <a:tr h="386011">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The supervisor asked for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Before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After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 real battery's usable portion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Fixed 11, 12, 13 V cut-offs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30.0–51.5 V range, decisions in %</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Critical, essential, non-essential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High, Medium, Low, no appliances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Three groups with real appliances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See each load go off at its %</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Screen showed raw volts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Screen shows %, every switch logged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Cheap, buyable parts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Never costed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About ₦24,000, all local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More than LEDs: add a motor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Three indicator lights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 fan on the Essential relay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bl>
          </a:graphicData>
        </a:graphic>
      </p:graphicFrame>
      <p:sp>
        <p:nvSpPr>
          <p:cNvPr id="4" name="Text 1"/>
          <p:cNvSpPr/>
          <p:nvPr/>
        </p:nvSpPr>
        <p:spPr>
          <a:xfrm>
            <a:off x="812800" y="475694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A"/>
                </a:solidFill>
                <a:latin typeface="Public Sans" pitchFamily="34" charset="0"/>
                <a:ea typeface="Public Sans" pitchFamily="34" charset="-122"/>
                <a:cs typeface="Public Sans" pitchFamily="34" charset="-120"/>
              </a:rPr>
              <a:t>Fixing these also caught the on-off flicker, and a wiring mistake that left the Critical light on permanently.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omine" pitchFamily="34" charset="0"/>
                <a:ea typeface="Domine" pitchFamily="34" charset="-122"/>
                <a:cs typeface="Domine" pitchFamily="34" charset="-120"/>
              </a:rPr>
              <a:t>Honest limits, and what could come next</a:t>
            </a:r>
            <a:endParaRPr lang="en-US" sz="3600" dirty="0"/>
          </a:p>
        </p:txBody>
      </p:sp>
      <p:sp>
        <p:nvSpPr>
          <p:cNvPr id="3" name="Shape 1"/>
          <p:cNvSpPr/>
          <p:nvPr/>
        </p:nvSpPr>
        <p:spPr>
          <a:xfrm>
            <a:off x="812800" y="1620490"/>
            <a:ext cx="3420517" cy="2136130"/>
          </a:xfrm>
          <a:prstGeom prst="roundRect">
            <a:avLst>
              <a:gd name="adj" fmla="val 4756"/>
            </a:avLst>
          </a:prstGeom>
          <a:solidFill>
            <a:srgbClr val="FFFDF8"/>
          </a:solidFill>
          <a:ln/>
        </p:spPr>
      </p:sp>
      <p:sp>
        <p:nvSpPr>
          <p:cNvPr id="4" name="Shape 2"/>
          <p:cNvSpPr/>
          <p:nvPr/>
        </p:nvSpPr>
        <p:spPr>
          <a:xfrm>
            <a:off x="812800" y="1620490"/>
            <a:ext cx="3420517" cy="2136130"/>
          </a:xfrm>
          <a:custGeom>
            <a:avLst/>
            <a:gdLst/>
            <a:ahLst/>
            <a:cxnLst/>
            <a:rect l="l" t="t" r="r" b="b"/>
            <a:pathLst>
              <a:path w="3420517" h="2136130">
                <a:moveTo>
                  <a:pt x="0" y="101600"/>
                </a:moveTo>
                <a:lnTo>
                  <a:pt x="0" y="101600"/>
                </a:lnTo>
                <a:arcTo hR="101600" wR="101600" stAng="10800000" swAng="5400000"/>
                <a:lnTo>
                  <a:pt x="3318917" y="0"/>
                </a:lnTo>
                <a:arcTo hR="101600" wR="101600" stAng="16200000" swAng="5400000"/>
                <a:lnTo>
                  <a:pt x="3420517" y="101600"/>
                </a:lnTo>
                <a:arcTo hR="50800" wR="101600" stAng="0" swAng="-5400000"/>
                <a:lnTo>
                  <a:pt x="101600" y="50800"/>
                </a:lnTo>
                <a:arcTo hR="50800" wR="101600" stAng="16200000" swAng="-5400000"/>
                <a:close/>
              </a:path>
            </a:pathLst>
          </a:custGeom>
          <a:solidFill>
            <a:srgbClr val="F2A33A"/>
          </a:solidFill>
          <a:ln/>
        </p:spPr>
      </p:sp>
      <p:sp>
        <p:nvSpPr>
          <p:cNvPr id="5" name="Text 3"/>
          <p:cNvSpPr/>
          <p:nvPr/>
        </p:nvSpPr>
        <p:spPr>
          <a:xfrm>
            <a:off x="1066800" y="1925290"/>
            <a:ext cx="29998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Count the charge</a:t>
            </a:r>
            <a:endParaRPr lang="en-US" sz="1600" dirty="0"/>
          </a:p>
        </p:txBody>
      </p:sp>
      <p:sp>
        <p:nvSpPr>
          <p:cNvPr id="6" name="Text 4"/>
          <p:cNvSpPr/>
          <p:nvPr/>
        </p:nvSpPr>
        <p:spPr>
          <a:xfrm>
            <a:off x="1066800" y="2245320"/>
            <a:ext cx="29998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Voltage is a rough gauge. Counting current in and out is more accurate.</a:t>
            </a:r>
            <a:endParaRPr lang="en-US" sz="1400" dirty="0"/>
          </a:p>
        </p:txBody>
      </p:sp>
      <p:sp>
        <p:nvSpPr>
          <p:cNvPr id="7" name="Shape 5"/>
          <p:cNvSpPr/>
          <p:nvPr/>
        </p:nvSpPr>
        <p:spPr>
          <a:xfrm>
            <a:off x="4385717" y="1620490"/>
            <a:ext cx="3420517" cy="2136130"/>
          </a:xfrm>
          <a:prstGeom prst="roundRect">
            <a:avLst>
              <a:gd name="adj" fmla="val 4756"/>
            </a:avLst>
          </a:prstGeom>
          <a:solidFill>
            <a:srgbClr val="FFFDF8"/>
          </a:solidFill>
          <a:ln/>
        </p:spPr>
      </p:sp>
      <p:sp>
        <p:nvSpPr>
          <p:cNvPr id="8" name="Shape 6"/>
          <p:cNvSpPr/>
          <p:nvPr/>
        </p:nvSpPr>
        <p:spPr>
          <a:xfrm>
            <a:off x="4385717" y="1620490"/>
            <a:ext cx="3420517" cy="2136130"/>
          </a:xfrm>
          <a:custGeom>
            <a:avLst/>
            <a:gdLst/>
            <a:ahLst/>
            <a:cxnLst/>
            <a:rect l="l" t="t" r="r" b="b"/>
            <a:pathLst>
              <a:path w="3420517" h="2136130">
                <a:moveTo>
                  <a:pt x="0" y="101600"/>
                </a:moveTo>
                <a:lnTo>
                  <a:pt x="0" y="101600"/>
                </a:lnTo>
                <a:arcTo hR="101600" wR="101600" stAng="10800000" swAng="5400000"/>
                <a:lnTo>
                  <a:pt x="3318917" y="0"/>
                </a:lnTo>
                <a:arcTo hR="101600" wR="101600" stAng="16200000" swAng="5400000"/>
                <a:lnTo>
                  <a:pt x="3420517" y="101600"/>
                </a:lnTo>
                <a:arcTo hR="50800" wR="101600" stAng="0" swAng="-5400000"/>
                <a:lnTo>
                  <a:pt x="101600" y="50800"/>
                </a:lnTo>
                <a:arcTo hR="50800" wR="101600" stAng="16200000" swAng="-5400000"/>
                <a:close/>
              </a:path>
            </a:pathLst>
          </a:custGeom>
          <a:solidFill>
            <a:srgbClr val="F2A33A"/>
          </a:solidFill>
          <a:ln/>
        </p:spPr>
      </p:sp>
      <p:sp>
        <p:nvSpPr>
          <p:cNvPr id="9" name="Text 7"/>
          <p:cNvSpPr/>
          <p:nvPr/>
        </p:nvSpPr>
        <p:spPr>
          <a:xfrm>
            <a:off x="4639717" y="1925290"/>
            <a:ext cx="29998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Measure the battery</a:t>
            </a:r>
            <a:endParaRPr lang="en-US" sz="1600" dirty="0"/>
          </a:p>
        </p:txBody>
      </p:sp>
      <p:sp>
        <p:nvSpPr>
          <p:cNvPr id="10" name="Text 8"/>
          <p:cNvSpPr/>
          <p:nvPr/>
        </p:nvSpPr>
        <p:spPr>
          <a:xfrm>
            <a:off x="4639717" y="2245320"/>
            <a:ext cx="299989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Curves come from published figures; drain the real one and log it.</a:t>
            </a:r>
            <a:endParaRPr lang="en-US" sz="1400" dirty="0"/>
          </a:p>
        </p:txBody>
      </p:sp>
      <p:sp>
        <p:nvSpPr>
          <p:cNvPr id="11" name="Shape 9"/>
          <p:cNvSpPr/>
          <p:nvPr/>
        </p:nvSpPr>
        <p:spPr>
          <a:xfrm>
            <a:off x="7958634" y="1620490"/>
            <a:ext cx="3420566" cy="2136130"/>
          </a:xfrm>
          <a:prstGeom prst="roundRect">
            <a:avLst>
              <a:gd name="adj" fmla="val 4756"/>
            </a:avLst>
          </a:prstGeom>
          <a:solidFill>
            <a:srgbClr val="FFFDF8"/>
          </a:solidFill>
          <a:ln/>
        </p:spPr>
      </p:sp>
      <p:sp>
        <p:nvSpPr>
          <p:cNvPr id="12" name="Shape 10"/>
          <p:cNvSpPr/>
          <p:nvPr/>
        </p:nvSpPr>
        <p:spPr>
          <a:xfrm>
            <a:off x="7958634" y="1620490"/>
            <a:ext cx="3420566" cy="2136130"/>
          </a:xfrm>
          <a:custGeom>
            <a:avLst/>
            <a:gdLst/>
            <a:ahLst/>
            <a:cxnLst/>
            <a:rect l="l" t="t" r="r" b="b"/>
            <a:pathLst>
              <a:path w="3420566" h="213613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F2A33A"/>
          </a:solidFill>
          <a:ln/>
        </p:spPr>
      </p:sp>
      <p:sp>
        <p:nvSpPr>
          <p:cNvPr id="13" name="Text 11"/>
          <p:cNvSpPr/>
          <p:nvPr/>
        </p:nvSpPr>
        <p:spPr>
          <a:xfrm>
            <a:off x="8212634" y="1925290"/>
            <a:ext cx="299994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Watch the sun</a:t>
            </a:r>
            <a:endParaRPr lang="en-US" sz="1600" dirty="0"/>
          </a:p>
        </p:txBody>
      </p:sp>
      <p:sp>
        <p:nvSpPr>
          <p:cNvPr id="14" name="Text 12"/>
          <p:cNvSpPr/>
          <p:nvPr/>
        </p:nvSpPr>
        <p:spPr>
          <a:xfrm>
            <a:off x="8212634" y="2245320"/>
            <a:ext cx="299994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40 % at 7 a.m. is not 40 % at 6 p.m. Measure the panel too.</a:t>
            </a:r>
            <a:endParaRPr lang="en-US" sz="1400" dirty="0"/>
          </a:p>
        </p:txBody>
      </p:sp>
      <p:sp>
        <p:nvSpPr>
          <p:cNvPr id="15" name="Shape 13"/>
          <p:cNvSpPr/>
          <p:nvPr/>
        </p:nvSpPr>
        <p:spPr>
          <a:xfrm>
            <a:off x="812800" y="3909020"/>
            <a:ext cx="3420517" cy="2136180"/>
          </a:xfrm>
          <a:prstGeom prst="roundRect">
            <a:avLst>
              <a:gd name="adj" fmla="val 4756"/>
            </a:avLst>
          </a:prstGeom>
          <a:solidFill>
            <a:srgbClr val="FFFDF8"/>
          </a:solidFill>
          <a:ln/>
        </p:spPr>
      </p:sp>
      <p:sp>
        <p:nvSpPr>
          <p:cNvPr id="16" name="Shape 14"/>
          <p:cNvSpPr/>
          <p:nvPr/>
        </p:nvSpPr>
        <p:spPr>
          <a:xfrm>
            <a:off x="812800" y="3909020"/>
            <a:ext cx="3420517" cy="2136180"/>
          </a:xfrm>
          <a:custGeom>
            <a:avLst/>
            <a:gdLst/>
            <a:ahLst/>
            <a:cxnLst/>
            <a:rect l="l" t="t" r="r" b="b"/>
            <a:pathLst>
              <a:path w="3420517" h="2136180">
                <a:moveTo>
                  <a:pt x="0" y="101600"/>
                </a:moveTo>
                <a:lnTo>
                  <a:pt x="0" y="101600"/>
                </a:lnTo>
                <a:arcTo hR="101600" wR="101600" stAng="10800000" swAng="5400000"/>
                <a:lnTo>
                  <a:pt x="3318917" y="0"/>
                </a:lnTo>
                <a:arcTo hR="101600" wR="101600" stAng="16200000" swAng="5400000"/>
                <a:lnTo>
                  <a:pt x="3420517" y="101600"/>
                </a:lnTo>
                <a:arcTo hR="50800" wR="101600" stAng="0" swAng="-5400000"/>
                <a:lnTo>
                  <a:pt x="101600" y="50800"/>
                </a:lnTo>
                <a:arcTo hR="50800" wR="101600" stAng="16200000" swAng="-5400000"/>
                <a:close/>
              </a:path>
            </a:pathLst>
          </a:custGeom>
          <a:solidFill>
            <a:srgbClr val="F2A33A"/>
          </a:solidFill>
          <a:ln/>
        </p:spPr>
      </p:sp>
      <p:sp>
        <p:nvSpPr>
          <p:cNvPr id="17" name="Text 15"/>
          <p:cNvSpPr/>
          <p:nvPr/>
        </p:nvSpPr>
        <p:spPr>
          <a:xfrm>
            <a:off x="1066800" y="4213820"/>
            <a:ext cx="29998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Time and motion</a:t>
            </a:r>
            <a:endParaRPr lang="en-US" sz="1600" dirty="0"/>
          </a:p>
        </p:txBody>
      </p:sp>
      <p:sp>
        <p:nvSpPr>
          <p:cNvPr id="18" name="Text 16"/>
          <p:cNvSpPr/>
          <p:nvPr/>
        </p:nvSpPr>
        <p:spPr>
          <a:xfrm>
            <a:off x="1066800" y="4533850"/>
            <a:ext cx="299989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Toilet light on a motion sensor (about ₦1,500); security light at night only.</a:t>
            </a:r>
            <a:endParaRPr lang="en-US" sz="1400" dirty="0"/>
          </a:p>
        </p:txBody>
      </p:sp>
      <p:sp>
        <p:nvSpPr>
          <p:cNvPr id="19" name="Shape 17"/>
          <p:cNvSpPr/>
          <p:nvPr/>
        </p:nvSpPr>
        <p:spPr>
          <a:xfrm>
            <a:off x="4385717" y="3909020"/>
            <a:ext cx="3420517" cy="2136180"/>
          </a:xfrm>
          <a:prstGeom prst="roundRect">
            <a:avLst>
              <a:gd name="adj" fmla="val 4756"/>
            </a:avLst>
          </a:prstGeom>
          <a:solidFill>
            <a:srgbClr val="FFFDF8"/>
          </a:solidFill>
          <a:ln/>
        </p:spPr>
      </p:sp>
      <p:sp>
        <p:nvSpPr>
          <p:cNvPr id="20" name="Shape 18"/>
          <p:cNvSpPr/>
          <p:nvPr/>
        </p:nvSpPr>
        <p:spPr>
          <a:xfrm>
            <a:off x="4385717" y="3909020"/>
            <a:ext cx="3420517" cy="2136180"/>
          </a:xfrm>
          <a:custGeom>
            <a:avLst/>
            <a:gdLst/>
            <a:ahLst/>
            <a:cxnLst/>
            <a:rect l="l" t="t" r="r" b="b"/>
            <a:pathLst>
              <a:path w="3420517" h="2136180">
                <a:moveTo>
                  <a:pt x="0" y="101600"/>
                </a:moveTo>
                <a:lnTo>
                  <a:pt x="0" y="101600"/>
                </a:lnTo>
                <a:arcTo hR="101600" wR="101600" stAng="10800000" swAng="5400000"/>
                <a:lnTo>
                  <a:pt x="3318917" y="0"/>
                </a:lnTo>
                <a:arcTo hR="101600" wR="101600" stAng="16200000" swAng="5400000"/>
                <a:lnTo>
                  <a:pt x="3420517" y="101600"/>
                </a:lnTo>
                <a:arcTo hR="50800" wR="101600" stAng="0" swAng="-5400000"/>
                <a:lnTo>
                  <a:pt x="101600" y="50800"/>
                </a:lnTo>
                <a:arcTo hR="50800" wR="101600" stAng="16200000" swAng="-5400000"/>
                <a:close/>
              </a:path>
            </a:pathLst>
          </a:custGeom>
          <a:solidFill>
            <a:srgbClr val="F2A33A"/>
          </a:solidFill>
          <a:ln/>
        </p:spPr>
      </p:sp>
      <p:sp>
        <p:nvSpPr>
          <p:cNvPr id="21" name="Text 19"/>
          <p:cNvSpPr/>
          <p:nvPr/>
        </p:nvSpPr>
        <p:spPr>
          <a:xfrm>
            <a:off x="4639717" y="4213820"/>
            <a:ext cx="29998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Phone dashboard</a:t>
            </a:r>
            <a:endParaRPr lang="en-US" sz="1600" dirty="0"/>
          </a:p>
        </p:txBody>
      </p:sp>
      <p:sp>
        <p:nvSpPr>
          <p:cNvPr id="22" name="Text 20"/>
          <p:cNvSpPr/>
          <p:nvPr/>
        </p:nvSpPr>
        <p:spPr>
          <a:xfrm>
            <a:off x="4639717" y="4533850"/>
            <a:ext cx="29998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The board's Wi-Fi is unused; no extra parts needed.</a:t>
            </a:r>
            <a:endParaRPr lang="en-US" sz="1400" dirty="0"/>
          </a:p>
        </p:txBody>
      </p:sp>
      <p:sp>
        <p:nvSpPr>
          <p:cNvPr id="23" name="Shape 21"/>
          <p:cNvSpPr/>
          <p:nvPr/>
        </p:nvSpPr>
        <p:spPr>
          <a:xfrm>
            <a:off x="7958634" y="3909020"/>
            <a:ext cx="3420566" cy="2136180"/>
          </a:xfrm>
          <a:prstGeom prst="roundRect">
            <a:avLst>
              <a:gd name="adj" fmla="val 4756"/>
            </a:avLst>
          </a:prstGeom>
          <a:solidFill>
            <a:srgbClr val="FFFDF8"/>
          </a:solidFill>
          <a:ln/>
        </p:spPr>
      </p:sp>
      <p:sp>
        <p:nvSpPr>
          <p:cNvPr id="24" name="Shape 22"/>
          <p:cNvSpPr/>
          <p:nvPr/>
        </p:nvSpPr>
        <p:spPr>
          <a:xfrm>
            <a:off x="7958634" y="3909020"/>
            <a:ext cx="3420566" cy="2136180"/>
          </a:xfrm>
          <a:custGeom>
            <a:avLst/>
            <a:gdLst/>
            <a:ahLst/>
            <a:cxnLst/>
            <a:rect l="l" t="t" r="r" b="b"/>
            <a:pathLst>
              <a:path w="3420566" h="21361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F2A33A"/>
          </a:solidFill>
          <a:ln/>
        </p:spPr>
      </p:sp>
      <p:sp>
        <p:nvSpPr>
          <p:cNvPr id="25" name="Text 23"/>
          <p:cNvSpPr/>
          <p:nvPr/>
        </p:nvSpPr>
        <p:spPr>
          <a:xfrm>
            <a:off x="8212634" y="4213820"/>
            <a:ext cx="299994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Manual override</a:t>
            </a:r>
            <a:endParaRPr lang="en-US" sz="1600" dirty="0"/>
          </a:p>
        </p:txBody>
      </p:sp>
      <p:sp>
        <p:nvSpPr>
          <p:cNvPr id="26" name="Text 24"/>
          <p:cNvSpPr/>
          <p:nvPr/>
        </p:nvSpPr>
        <p:spPr>
          <a:xfrm>
            <a:off x="8212634" y="4533850"/>
            <a:ext cx="299994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A"/>
                </a:solidFill>
                <a:latin typeface="Public Sans" pitchFamily="34" charset="0"/>
                <a:ea typeface="Public Sans" pitchFamily="34" charset="-122"/>
                <a:cs typeface="Public Sans" pitchFamily="34" charset="-120"/>
              </a:rPr>
              <a:t>Let the user force a group on or off, with a timeout.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A33A"/>
          </a:solidFill>
          <a:ln/>
        </p:spPr>
      </p:sp>
      <p:sp>
        <p:nvSpPr>
          <p:cNvPr id="3" name="Text 1"/>
          <p:cNvSpPr/>
          <p:nvPr/>
        </p:nvSpPr>
        <p:spPr>
          <a:xfrm>
            <a:off x="812800" y="215394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7F5EE"/>
                </a:solidFill>
                <a:latin typeface="Domine" pitchFamily="34" charset="0"/>
                <a:ea typeface="Domine" pitchFamily="34" charset="-122"/>
                <a:cs typeface="Domine" pitchFamily="34" charset="-120"/>
              </a:rPr>
              <a:t>Thank you. Questions?</a:t>
            </a:r>
            <a:endParaRPr lang="en-US" sz="6000" dirty="0"/>
          </a:p>
        </p:txBody>
      </p:sp>
      <p:sp>
        <p:nvSpPr>
          <p:cNvPr id="4" name="Text 2"/>
          <p:cNvSpPr/>
          <p:nvPr/>
        </p:nvSpPr>
        <p:spPr>
          <a:xfrm>
            <a:off x="812800" y="330964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2A33A"/>
                </a:solidFill>
                <a:latin typeface="Public Sans" pitchFamily="34" charset="0"/>
                <a:ea typeface="Public Sans" pitchFamily="34" charset="-122"/>
                <a:cs typeface="Public Sans" pitchFamily="34" charset="-120"/>
              </a:rPr>
              <a:t>1.</a:t>
            </a:r>
            <a:r>
              <a:rPr lang="en-US" sz="2200" dirty="0">
                <a:solidFill>
                  <a:srgbClr val="C9D2E3"/>
                </a:solidFill>
                <a:latin typeface="Public Sans" pitchFamily="34" charset="0"/>
                <a:ea typeface="Public Sans" pitchFamily="34" charset="-122"/>
                <a:cs typeface="Public Sans" pitchFamily="34" charset="-120"/>
              </a:rPr>
              <a:t> Three groups, decided by consequence</a:t>
            </a:r>
            <a:endParaRPr lang="en-US" sz="2200" dirty="0"/>
          </a:p>
        </p:txBody>
      </p:sp>
      <p:sp>
        <p:nvSpPr>
          <p:cNvPr id="5" name="Text 3"/>
          <p:cNvSpPr/>
          <p:nvPr/>
        </p:nvSpPr>
        <p:spPr>
          <a:xfrm>
            <a:off x="812800" y="382523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2A33A"/>
                </a:solidFill>
                <a:latin typeface="Public Sans" pitchFamily="34" charset="0"/>
                <a:ea typeface="Public Sans" pitchFamily="34" charset="-122"/>
                <a:cs typeface="Public Sans" pitchFamily="34" charset="-120"/>
              </a:rPr>
              <a:t>2.</a:t>
            </a:r>
            <a:r>
              <a:rPr lang="en-US" sz="2200" dirty="0">
                <a:solidFill>
                  <a:srgbClr val="C9D2E3"/>
                </a:solidFill>
                <a:latin typeface="Public Sans" pitchFamily="34" charset="0"/>
                <a:ea typeface="Public Sans" pitchFamily="34" charset="-122"/>
                <a:cs typeface="Public Sans" pitchFamily="34" charset="-120"/>
              </a:rPr>
              <a:t> Switched off by battery %, least important first</a:t>
            </a:r>
            <a:endParaRPr lang="en-US" sz="2200" dirty="0"/>
          </a:p>
        </p:txBody>
      </p:sp>
      <p:sp>
        <p:nvSpPr>
          <p:cNvPr id="6" name="Text 4"/>
          <p:cNvSpPr/>
          <p:nvPr/>
        </p:nvSpPr>
        <p:spPr>
          <a:xfrm>
            <a:off x="812800" y="434082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2A33A"/>
                </a:solidFill>
                <a:latin typeface="Public Sans" pitchFamily="34" charset="0"/>
                <a:ea typeface="Public Sans" pitchFamily="34" charset="-122"/>
                <a:cs typeface="Public Sans" pitchFamily="34" charset="-120"/>
              </a:rPr>
              <a:t>3.</a:t>
            </a:r>
            <a:r>
              <a:rPr lang="en-US" sz="2200" dirty="0">
                <a:solidFill>
                  <a:srgbClr val="C9D2E3"/>
                </a:solidFill>
                <a:latin typeface="Public Sans" pitchFamily="34" charset="0"/>
                <a:ea typeface="Public Sans" pitchFamily="34" charset="-122"/>
                <a:cs typeface="Public Sans" pitchFamily="34" charset="-120"/>
              </a:rPr>
              <a:t> About ₦24,000 of locally available parts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Solar Load Priority System</dc:title>
  <dc:subject>PptxGenJS Presentation</dc:subject>
  <dc:creator>PptxGenJS</dc:creator>
  <cp:lastModifiedBy>PptxGenJS</cp:lastModifiedBy>
  <cp:revision>1</cp:revision>
  <dcterms:created xsi:type="dcterms:W3CDTF">2026-09-29T09:20:09Z</dcterms:created>
  <dcterms:modified xsi:type="dcterms:W3CDTF">2026-09-29T09:20:09Z</dcterms:modified>
</cp:coreProperties>
</file>